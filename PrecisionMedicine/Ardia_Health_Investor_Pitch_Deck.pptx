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5EEAD4"/>
                </a:solidFill>
                <a:latin typeface="Arial"/>
              </a:defRPr>
            </a:pPr>
            <a:r>
              <a:rPr sz="1800" b="0" i="0" u="none" strike="noStrike">
                <a:solidFill>
                  <a:srgbClr val="5EEAD4"/>
                </a:solidFill>
                <a:latin typeface="Arial"/>
              </a:rPr>
              <a:t>Annual Recurring Revenue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B8A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3.2</c:v>
                </c:pt>
                <c:pt idx="2">
                  <c:v>9.8</c:v>
                </c:pt>
                <c:pt idx="3">
                  <c:v>24.5</c:v>
                </c:pt>
                <c:pt idx="4">
                  <c:v>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B8A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2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203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 of Funds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6366F1"/>
              </a:solidFill>
              <a:effectLst/>
            </c:spPr>
          </c:dPt>
          <c:dPt>
            <c:idx val="3"/>
            <c:bubble3D val="0"/>
            <c:spPr>
              <a:solidFill>
                <a:srgbClr val="EC4899"/>
              </a:solidFill>
              <a:effectLst/>
            </c:spPr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Engineering &amp; AI (40%)</c:v>
                </c:pt>
                <c:pt idx="1">
                  <c:v>Sales &amp; GTM (25%)</c:v>
                </c:pt>
                <c:pt idx="2">
                  <c:v>Operations &amp; Compliance (18%)</c:v>
                </c:pt>
                <c:pt idx="3">
                  <c:v>G&amp;A &amp; Legal (10%)</c:v>
                </c:pt>
                <c:pt idx="4">
                  <c:v>Reserve (7%)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25</c:v>
                </c:pt>
                <c:pt idx="2">
                  <c:v>18</c:v>
                </c:pt>
                <c:pt idx="3">
                  <c:v>10</c:v>
                </c:pt>
                <c:pt idx="4">
                  <c:v>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EEAD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2560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2560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2560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40280" y="2560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2560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07899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107899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40280" y="107899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0360" y="107899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90195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190195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00200" y="190195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40280" y="190195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80360" y="190195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2491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272491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272491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0280" y="272491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80360" y="272491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54787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354787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0200" y="354787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54787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80360" y="354787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43708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" y="43708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00200" y="43708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40280" y="43708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80360" y="4370832"/>
            <a:ext cx="73152" cy="73152"/>
          </a:xfrm>
          <a:prstGeom prst="ellipse">
            <a:avLst/>
          </a:prstGeom>
          <a:solidFill>
            <a:srgbClr val="CCFBF1">
              <a:alpha val="4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57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</a:t>
            </a:r>
            <a:endParaRPr lang="en-US" sz="4400" dirty="0"/>
          </a:p>
        </p:txBody>
      </p:sp>
      <p:sp>
        <p:nvSpPr>
          <p:cNvPr id="34" name="Text 32"/>
          <p:cNvSpPr/>
          <p:nvPr/>
        </p:nvSpPr>
        <p:spPr>
          <a:xfrm>
            <a:off x="274320" y="1143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8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1600200"/>
            <a:ext cx="2926080" cy="0"/>
          </a:xfrm>
          <a:prstGeom prst="line">
            <a:avLst/>
          </a:prstGeom>
          <a:noFill/>
          <a:ln w="19050">
            <a:solidFill>
              <a:srgbClr val="CCFBF1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182880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Revenue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for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Labs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411480" y="3401568"/>
            <a:ext cx="301752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40156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DFW, Texas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3803904"/>
            <a:ext cx="301752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80390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Jan 2026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4206240"/>
            <a:ext cx="301752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20624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Delaware LLC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114800" y="8229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AI-Native Revenue Recovery Platform Built Exclusively for Independent Clinical Labs</a:t>
            </a:r>
            <a:endParaRPr lang="en-US" sz="2200" dirty="0"/>
          </a:p>
        </p:txBody>
      </p:sp>
      <p:sp>
        <p:nvSpPr>
          <p:cNvPr id="44" name="Shape 42"/>
          <p:cNvSpPr/>
          <p:nvPr/>
        </p:nvSpPr>
        <p:spPr>
          <a:xfrm>
            <a:off x="4114800" y="2423160"/>
            <a:ext cx="146304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114800" y="255117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</a:t>
            </a:r>
            <a:endParaRPr lang="en-US" sz="3600" dirty="0"/>
          </a:p>
        </p:txBody>
      </p:sp>
      <p:sp>
        <p:nvSpPr>
          <p:cNvPr id="46" name="Text 44"/>
          <p:cNvSpPr/>
          <p:nvPr/>
        </p:nvSpPr>
        <p:spPr>
          <a:xfrm>
            <a:off x="4114800" y="3081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Lab Revenue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Unpaid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42432" y="2423160"/>
            <a:ext cx="146304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742432" y="255117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3600" dirty="0"/>
          </a:p>
        </p:txBody>
      </p:sp>
      <p:sp>
        <p:nvSpPr>
          <p:cNvPr id="49" name="Text 47"/>
          <p:cNvSpPr/>
          <p:nvPr/>
        </p:nvSpPr>
        <p:spPr>
          <a:xfrm>
            <a:off x="5742432" y="3081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Rate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370064" y="2423160"/>
            <a:ext cx="1463040" cy="1234440"/>
          </a:xfrm>
          <a:prstGeom prst="rect">
            <a:avLst/>
          </a:prstGeom>
          <a:solidFill>
            <a:srgbClr val="0A162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370064" y="255117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3600" dirty="0"/>
          </a:p>
        </p:txBody>
      </p:sp>
      <p:sp>
        <p:nvSpPr>
          <p:cNvPr id="52" name="Text 50"/>
          <p:cNvSpPr/>
          <p:nvPr/>
        </p:nvSpPr>
        <p:spPr>
          <a:xfrm>
            <a:off x="7370064" y="308152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Claims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Appealed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114800" y="3858768"/>
            <a:ext cx="475488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0" y="385876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$3.5M Seed Round  ·  15% Success Fee Model  ·  Target: &lt;8 Months to First Revenue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114800" y="47548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FOR ACCREDITED INVESTORS ONLY · ARDIA HEALTH ©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Labs Are Hemorrhaging Revenue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storm of rising denials, manual billing failures, and PAMA 2027 cuts is threatening lab viability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61872"/>
            <a:ext cx="64008" cy="16642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63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463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$10–12B Unpaid Annually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5623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labs lose $10–12B in claims every year. Independent labs face 13.6%–27% denial rates — far above the 11.8% healthcare average.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61872"/>
            <a:ext cx="64008" cy="16642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4630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86400" y="146304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Denials Go Unchallenged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85623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labs never appeal denied claims. When they do, 50–83% of appeals succeed — proving the revenue is recoverable.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72384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072384"/>
            <a:ext cx="64008" cy="16642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73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2735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$25–$181 Per Manual Appeal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3666744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manual denial rework costs labs $25–$181 in staff time. Hospitals spend $19.7B annually just overturning denials.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072384"/>
            <a:ext cx="4023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3072384"/>
            <a:ext cx="64008" cy="16642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2735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486400" y="32735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PAMA 2027 Cuts Loom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666744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15%/year in Medicare rate cuts resume Jan 2027. Over 50% of labs say PAMA cuts would force a sale or merger.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 denial rate: 27%  ·  Toxicology billing errors: 80%+ from documentation gaps  ·  PAMA cuts: up to 45% cumulative by 2029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Forces Converge in 2026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window exists before payer AI dominates provider-side operations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82296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07008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801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2801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PAMA 2027 Existential Threat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591056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15%/year Medicare cuts resume Jan 1, 2027 after 7 congressional delays. Labs cannot wait — they need to recover every claimable dollar now. The RESULTS Act remains unpassed.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57984"/>
            <a:ext cx="8412480" cy="82296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57984"/>
            <a:ext cx="64008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23113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223113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AI Battle of Bots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542032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AI denial engines grew from 8% to 34% full adoption. Provider-side AI is the only effective countermeasure. AI-generated denials require AI-powered appeals.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8412480" cy="82296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08960"/>
            <a:ext cx="64008" cy="82296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" y="318211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18211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Regulatory First-Mover Moat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493008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1188 (Sept 2025) &amp; TRAIGA (Jan 2026) mandate human-in-loop AI, US data residency, and patient disclosure. Compliant vendors built natively will dominate the market.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4059936"/>
            <a:ext cx="8412480" cy="822960"/>
          </a:xfrm>
          <a:prstGeom prst="rect">
            <a:avLst/>
          </a:prstGeom>
          <a:solidFill>
            <a:srgbClr val="14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59936"/>
            <a:ext cx="64008" cy="822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413308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13308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VC at Peak Deployment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4443984"/>
            <a:ext cx="7498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captured 54% of all digital health VC in 2025. Investors paid an 83% premium per round for AI-enabled health startups. The funding window is open.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Clinical Intelligence Engine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autonomous, lab-specific AI that reasons about clinical documentation to recover denied and underpaid revenue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64008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ToxIQ™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5819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Toxicology denial intelligence — LCD reasoning, MOR/confirmatory drug panel coding, synthetic opioid detection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488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48840"/>
            <a:ext cx="6400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402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MolecuIQ™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4963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diagnostics — MolDx coverage rules, NCCN evidence integration, NGS/PGx denial patterns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063240"/>
            <a:ext cx="64008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546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AcoIQ™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4107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 population health — shared savings optimization, quality measure reconciliation, lab data pipeline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39319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977640"/>
            <a:ext cx="64008" cy="80467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690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BehaviorIQ™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432511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health &amp; MAT — SUD billing rules, OTP coding, prior auth for buprenorphine/naltrexone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0" y="1188720"/>
            <a:ext cx="4297680" cy="37490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325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Ardia Wins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663440" y="186537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8105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Lab-Only Focus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956048" y="2066544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tox, molecular, &amp; clinical labs — not retrofitted from hospital RCM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237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2468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Neuro-Symbolic AI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956048" y="2724912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+ 847 LCD rules + ML outcome prediction — explains every decision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1821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1272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 Second Draft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56048" y="3383280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evidence-backed appeal briefs in under 90 seconds vs. 2+ hours manually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38404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78561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SB 1188 Native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56048" y="40416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 review, US data residency, and audit trails built from day one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449884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44439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 Only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956048" y="4700016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of recovered revenue — zero upfront cost aligns incentives perfectly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Autonomous Revenue Recovery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ingestion → AI reasoning → appeal generation → submission → payment posting → continuous learning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1325880" cy="34747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88720"/>
            <a:ext cx="1325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167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194560"/>
            <a:ext cx="9601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04288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835/837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/ HL7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45920" y="2606040"/>
            <a:ext cx="10972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55648" y="1188720"/>
            <a:ext cx="1325880" cy="34747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55648" y="1188720"/>
            <a:ext cx="1325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55648" y="13167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755648" y="181051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38528" y="2194560"/>
            <a:ext cx="9601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55648" y="2304288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Neuro-Symbolic 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 LCD rules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outcome model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81528" y="2606040"/>
            <a:ext cx="10972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91256" y="1188720"/>
            <a:ext cx="1325880" cy="34747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91256" y="1188720"/>
            <a:ext cx="1325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91256" y="13167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191256" y="181051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74136" y="2194560"/>
            <a:ext cx="9601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91256" y="2304288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evidence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databases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340ms retrieval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17136" y="2606040"/>
            <a:ext cx="10972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26864" y="1188720"/>
            <a:ext cx="1325880" cy="34747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26864" y="1188720"/>
            <a:ext cx="1325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13167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626864" y="181051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9744" y="2194560"/>
            <a:ext cx="9601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2304288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brief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 seconds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gate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52744" y="2606040"/>
            <a:ext cx="10972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62472" y="1188720"/>
            <a:ext cx="1325880" cy="34747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62472" y="1188720"/>
            <a:ext cx="1325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62472" y="13167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062472" y="181051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45352" y="2194560"/>
            <a:ext cx="9601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62472" y="2304288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engine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120-day CMS window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88352" y="2606040"/>
            <a:ext cx="109728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1188720"/>
            <a:ext cx="1325880" cy="3474720"/>
          </a:xfrm>
          <a:prstGeom prst="rect">
            <a:avLst/>
          </a:prstGeom>
          <a:solidFill>
            <a:srgbClr val="0D2035"/>
          </a:solidFill>
          <a:ln w="12700">
            <a:solidFill>
              <a:srgbClr val="1A3A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1188720"/>
            <a:ext cx="13258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1316736"/>
            <a:ext cx="1325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498080" y="181051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&amp; Learn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680960" y="2194560"/>
            <a:ext cx="9601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2304288"/>
            <a:ext cx="1325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auto-posting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reconciliation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retraining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4645152"/>
            <a:ext cx="1920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6451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&lt;90s  Appeal Draft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542032" y="4645152"/>
            <a:ext cx="1920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42032" y="46451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 Appeal Win Rate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626864" y="4645152"/>
            <a:ext cx="1920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26864" y="46451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 Upfront Cost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711696" y="4645152"/>
            <a:ext cx="192024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11696" y="46451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47×  Cost Advantage vs. Manual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$70 Billion AI RCM Market With a $12B Lab-Specific Opportunity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206240" cy="347472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381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909267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RCM Market by 2030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24.2% CAGR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1463040"/>
            <a:ext cx="3108960" cy="2560320"/>
          </a:xfrm>
          <a:prstGeom prst="ellipse">
            <a:avLst/>
          </a:prstGeom>
          <a:solidFill>
            <a:srgbClr val="DBEAFE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67866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2128723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99923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 Center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RCM Spend (2026)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554480" y="1965960"/>
            <a:ext cx="2011680" cy="150876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086661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235823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$620M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54480" y="287121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RCM (Yr 5)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1005840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37760" y="1005840"/>
            <a:ext cx="54864" cy="60350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84064" y="10607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$96–100B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84064" y="130759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U.S. Lab Testing Revenue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1709928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1709928"/>
            <a:ext cx="54864" cy="60350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1764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$10–12B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84064" y="20116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Revenue Lost to Unpaid Claims/Year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37760" y="2414016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2414016"/>
            <a:ext cx="54864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84064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84064" y="271576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U.S. Test Volume from Independent Labs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37760" y="3118104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3118104"/>
            <a:ext cx="54864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4064" y="31729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7,000+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84064" y="341985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Clinical Labs (CLIA certified)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37760" y="3822192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37760" y="3822192"/>
            <a:ext cx="54864" cy="60350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38770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$3–5B+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084064" y="41239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Metro Lab Market (Phase 1 Beachhead)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37760" y="4526280"/>
            <a:ext cx="38404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937760" y="4526280"/>
            <a:ext cx="54864" cy="603504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84064" y="45811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ACOs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084064" y="48280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MSSP — $803M Shared Savings (2024)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Precision Medicine Billing Crisis: A $250B Market That Can't Get Paid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2057400" cy="1280160"/>
          </a:xfrm>
          <a:prstGeom prst="rect">
            <a:avLst/>
          </a:prstGeom>
          <a:solidFill>
            <a:srgbClr val="0D2035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$250B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60934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precision medicine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by 2030 (11–16% CAGR)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32888" y="987552"/>
            <a:ext cx="2057400" cy="1280160"/>
          </a:xfrm>
          <a:prstGeom prst="rect">
            <a:avLst/>
          </a:prstGeom>
          <a:solidFill>
            <a:srgbClr val="0D2035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2888" y="105156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32888" y="160934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rate — 3× average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45736" y="987552"/>
            <a:ext cx="2057400" cy="1280160"/>
          </a:xfrm>
          <a:prstGeom prst="rect">
            <a:avLst/>
          </a:prstGeom>
          <a:solidFill>
            <a:srgbClr val="0D2035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45736" y="105156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745736" y="160934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PGx claims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reimbursed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58584" y="987552"/>
            <a:ext cx="2057400" cy="1280160"/>
          </a:xfrm>
          <a:prstGeom prst="rect">
            <a:avLst/>
          </a:prstGeom>
          <a:solidFill>
            <a:srgbClr val="0D2035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58584" y="105156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2.76×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958584" y="1609344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denial odds for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labs vs hospital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423160"/>
            <a:ext cx="42062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42316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 SUB-MARKETS (2025)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761488"/>
            <a:ext cx="4206240" cy="384048"/>
          </a:xfrm>
          <a:prstGeom prst="rect">
            <a:avLst/>
          </a:prstGeom>
          <a:solidFill>
            <a:srgbClr val="0A1E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6148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Pharmacogenomics (PGx)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97480" y="276148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$6–10B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2761488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8–14% CAGR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0040" y="3191256"/>
            <a:ext cx="4206240" cy="384048"/>
          </a:xfrm>
          <a:prstGeom prst="rect">
            <a:avLst/>
          </a:prstGeom>
          <a:solidFill>
            <a:srgbClr val="091829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912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Next-Gen Sequencing (NGS)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97480" y="319125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$14B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03320" y="319125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 CAGR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" y="3621024"/>
            <a:ext cx="4206240" cy="384048"/>
          </a:xfrm>
          <a:prstGeom prst="rect">
            <a:avLst/>
          </a:prstGeom>
          <a:solidFill>
            <a:srgbClr val="0A1E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2102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Diagnostics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97480" y="362102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$7.5–9.1B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3621024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10.5–12.6% CAGR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0040" y="4050792"/>
            <a:ext cx="4206240" cy="384048"/>
          </a:xfrm>
          <a:prstGeom prst="rect">
            <a:avLst/>
          </a:prstGeom>
          <a:solidFill>
            <a:srgbClr val="091829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507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Biopsy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97480" y="405079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$6–12B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03320" y="4050792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11.5–13.9% CAGR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4480560"/>
            <a:ext cx="4206240" cy="384048"/>
          </a:xfrm>
          <a:prstGeom prst="rect">
            <a:avLst/>
          </a:prstGeom>
          <a:solidFill>
            <a:srgbClr val="0A1E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805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Lab RCM Market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697480" y="448056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$17.7B → $41B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03320" y="4480560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 CAGR to 2034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09160" y="2423160"/>
            <a:ext cx="411480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423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PRECISION MEDICINE CLAIMS GET DENIED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2761488"/>
            <a:ext cx="4114800" cy="384048"/>
          </a:xfrm>
          <a:prstGeom prst="rect">
            <a:avLst/>
          </a:prstGeom>
          <a:solidFill>
            <a:srgbClr val="0A1E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76148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DEX Z-code (MolDx mandatory since 2018)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09160" y="3191256"/>
            <a:ext cx="4114800" cy="384048"/>
          </a:xfrm>
          <a:prstGeom prst="rect">
            <a:avLst/>
          </a:prstGeom>
          <a:solidFill>
            <a:srgbClr val="091829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1912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75,000+ genetic tests map to &lt;200 CPT codes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9160" y="3621024"/>
            <a:ext cx="4114800" cy="384048"/>
          </a:xfrm>
          <a:prstGeom prst="rect">
            <a:avLst/>
          </a:prstGeom>
          <a:solidFill>
            <a:srgbClr val="0A1E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62102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MolDx Technical Assessment (TA)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4050792"/>
            <a:ext cx="4114800" cy="384048"/>
          </a:xfrm>
          <a:prstGeom prst="rect">
            <a:avLst/>
          </a:prstGeom>
          <a:solidFill>
            <a:srgbClr val="091829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0507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denials up 24% (2018–2023); UHC +49% alone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09160" y="4480560"/>
            <a:ext cx="4114800" cy="384048"/>
          </a:xfrm>
          <a:prstGeom prst="rect">
            <a:avLst/>
          </a:prstGeom>
          <a:solidFill>
            <a:srgbClr val="0A1E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44805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12 major insurers cover ≤10 PGx drug pairs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4617720"/>
            <a:ext cx="48463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617720"/>
            <a:ext cx="4846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Ardia's MolecuIQ™: The only AI purpose-built for MolDx/DEX compliance, PGx coding, and NGS prior auth — for independent labs.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57800" y="4617720"/>
            <a:ext cx="3566160" cy="420624"/>
          </a:xfrm>
          <a:prstGeom prst="rect">
            <a:avLst/>
          </a:prstGeom>
          <a:solidFill>
            <a:srgbClr val="0D2035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7800" y="4617720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Caris Life Sciences (Irving, TX): $7.83B valuation, 740K+ genomic records — DFW is the precision medicine capital of Texas.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AI-Native Competitor Targets Independent Labs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RCM AI player serves hospitals. Ardia owns the independent lab category.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2194560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05456" y="1170432"/>
            <a:ext cx="1691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05456" y="1170432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Health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33672" y="1170432"/>
            <a:ext cx="1170432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33672" y="1170432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Waystar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1170432"/>
            <a:ext cx="1170432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1170432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RCM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647688" y="1170432"/>
            <a:ext cx="1170432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7688" y="1170432"/>
            <a:ext cx="1170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854696" y="1170432"/>
            <a:ext cx="1435608" cy="347472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54696" y="1170432"/>
            <a:ext cx="1435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Billing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572768"/>
            <a:ext cx="2194560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15727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Lab-Specific AI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05456" y="15727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51176" y="15727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 for labs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233672" y="15727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15727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Hospital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40680" y="15727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5727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Hospital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47688" y="15727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3408" y="15727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Hospital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54696" y="1572768"/>
            <a:ext cx="1435608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0416" y="15727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Rule-based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2029968"/>
            <a:ext cx="2194560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0299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/ Tox Coding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505456" y="20299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51176" y="20299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33672" y="20299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9392" y="20299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40680" y="20299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20299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647688" y="20299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93408" y="20299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854696" y="2029968"/>
            <a:ext cx="1435608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00416" y="20299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Manual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74320" y="2487168"/>
            <a:ext cx="2194560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24871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LCD/NCD Rules Engine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05456" y="24871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51176" y="24871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847 rules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233672" y="24871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79392" y="24871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440680" y="24871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0" y="24871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647688" y="24871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93408" y="24871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854696" y="2487168"/>
            <a:ext cx="1435608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00416" y="24871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74320" y="2944368"/>
            <a:ext cx="2194560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29443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Neuro-Symbolic Reasoning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505456" y="29443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51176" y="29443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Explains decisions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233672" y="29443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79392" y="29443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440680" y="29443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0" y="29443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647688" y="29443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93408" y="29443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854696" y="2944368"/>
            <a:ext cx="1435608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00416" y="29443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74320" y="3401568"/>
            <a:ext cx="2194560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34015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SB 1188 Compliant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505456" y="34015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551176" y="34015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4233672" y="34015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79392" y="34015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TBD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440680" y="34015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486400" y="34015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TBD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647688" y="34015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93408" y="34015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TBD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854696" y="3401568"/>
            <a:ext cx="1435608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00416" y="34015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74320" y="3858768"/>
            <a:ext cx="2194560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38587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Fee Model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505456" y="38587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51176" y="38587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15% recovered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233672" y="38587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79392" y="38587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License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5440680" y="38587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486400" y="38587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License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647688" y="3858768"/>
            <a:ext cx="1170432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693408" y="38587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License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854696" y="3858768"/>
            <a:ext cx="1435608" cy="438912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900416" y="38587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% of billed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274320" y="4315968"/>
            <a:ext cx="2194560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0040" y="4315968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Lab Focus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505456" y="4315968"/>
            <a:ext cx="1691640" cy="438912"/>
          </a:xfrm>
          <a:prstGeom prst="rect">
            <a:avLst/>
          </a:prstGeom>
          <a:solidFill>
            <a:srgbClr val="0D2A3A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551176" y="4315968"/>
            <a:ext cx="1600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Only segment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233672" y="43159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279392" y="43159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5440680" y="43159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86400" y="43159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6647688" y="4315968"/>
            <a:ext cx="1170432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693408" y="4315968"/>
            <a:ext cx="10789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854696" y="4315968"/>
            <a:ext cx="1435608" cy="438912"/>
          </a:xfrm>
          <a:prstGeom prst="rect">
            <a:avLst/>
          </a:prstGeom>
          <a:solidFill>
            <a:srgbClr val="0E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7900416" y="4315968"/>
            <a:ext cx="13441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Broad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74320" y="468172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Comps: Waystar IPO $3.5B · R1 RCM acquired $8.9B · AKASA $205M funding @ 50k+ facilities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Entry. Recurring, High-Margin Revenue.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pay only when Ardia recovers money — aligning incentives and eliminating procurement friction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029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64008" cy="11155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216152"/>
            <a:ext cx="10789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1960" y="1216152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0352" y="12161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Success Fee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47218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" y="17373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recovered revenue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192024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upfront cost. Ardia earns when the lab earns. Ideal for independent labs with 10K–100K tests/year. Typical lab value: $180K–$2.4M/year.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542032"/>
            <a:ext cx="5029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42032"/>
            <a:ext cx="64008" cy="11155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51960" y="2615184"/>
            <a:ext cx="1078992" cy="2377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2615184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30352" y="2615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2: SaaS Platform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2871216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$2,500–$8,500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" y="3136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(3-year contract)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0352" y="3319272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 for labs exceeding denial recovery thresholds. Includes API integration, custom LCD rules, dedicated CSM, and compliance dashboards.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502920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31920"/>
            <a:ext cx="64008" cy="11155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51960" y="4005072"/>
            <a:ext cx="1078992" cy="2377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4005072"/>
            <a:ext cx="10789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0352" y="40050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3: ACO Intelligence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" y="4261104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$12,500–$35,000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0352" y="4526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per ACO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" y="470916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AcoIQ population health analytics for BSWQA/SWHR-scale ACOs. Lab data pipelines, shared savings attribution, quality measure reporting.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23560" y="1143000"/>
            <a:ext cx="3200400" cy="38953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12618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715000" y="2212848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173736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Lab Size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173736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10K–500K tests/yr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2779776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230428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Denial Rate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230428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15–27% ($540K–$2.7M denied)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15000" y="3346704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287121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 Recovery Rate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0" y="287121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50–80% of worked denials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715000" y="3913632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343814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Lab/Yr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315200" y="3438144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$40K–$405K (15% success)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715000" y="4480560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40050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(PLG Model)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315200" y="400507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$3,500–$8,000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15000" y="5047488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457200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315200" y="4572000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72–78% at scale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715000" y="5614416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513892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315200" y="5138928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months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715000" y="6181344"/>
            <a:ext cx="2926080" cy="0"/>
          </a:xfrm>
          <a:prstGeom prst="line">
            <a:avLst/>
          </a:prstGeom>
          <a:noFill/>
          <a:ln w="12700">
            <a:solidFill>
              <a:srgbClr val="1E32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15000" y="570585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 Target (Yr 3)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0" y="5705856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145%+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Beachhead → Texas → National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PLG-assisted enterprise sales: product sells itself, sales closes the enterprise contract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2834640" cy="379476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283464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Beachhead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25603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" y="2304288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194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HealthTrackRx (Denton — PCR/molecular, 10K+ clinicians)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84632" y="2816352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06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 Health Systems (Irving — 1M+ tests/yr)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4632" y="3328416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18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 Health Lab (Dallas — AI-forward, explicitly seeking AI)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" y="3840480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07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Laboratories (Farmers Branch — tox, treatment centers)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4632" y="4352544"/>
            <a:ext cx="128016" cy="128016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4281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BSWQA + SWHR ACOs (Phase 1 ACO channel entry)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46120" y="1170432"/>
            <a:ext cx="2834640" cy="379476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1170432"/>
            <a:ext cx="283464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17190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+ Behavioral Health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2103120"/>
            <a:ext cx="25603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10712" y="230428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194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BHG — 117 OTP locations, 24 states, 42K+ patients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410712" y="2816352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11880" y="2706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Metrocare Services — 50K+ patients, Dallas County CCBHC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10712" y="332841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3218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MHMR Tarrant County — Largest BH provider, Fort Worth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410712" y="384048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11880" y="37307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 Texas, Symetria Recovery — DFW MAT clinic networks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410712" y="4352544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424281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MSSP ACO Network — 58 ACOs, $803M shared savings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172200" y="1170432"/>
            <a:ext cx="2834640" cy="379476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1170432"/>
            <a:ext cx="283464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128016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09360" y="1719072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Expansion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2103120"/>
            <a:ext cx="256032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36792" y="2304288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19456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system lab networks (UTSW — 14M tests/yr)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36792" y="2816352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2706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Quest/LabCorp white-label opportunity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36792" y="3328416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37960" y="321868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OTP chains (BHG, New Season)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36792" y="3840480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37960" y="373075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PE-backed lab rollup acquisition target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36792" y="4352544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37960" y="424281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— UK NHS, Canada lab markets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14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 Motion: Freemium trial (5 denials) → 30-day pilot → success fee contract → SaaS upsell   |   CAC: $3.5K–$8K   |   Sales cycle: 4–8 weeks (vs. 6–18 months enterprise)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ADVANTAGE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Headquarters in the Nation's #1 Clinical AI Sandbox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hosts two nationally elite ACOs, 7+ independent labs, 40+ behavioral health orgs, and two 2025 AI governance laws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93776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64008" cy="8503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Baylor Scott &amp; White Quality Alliance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49961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$107.6M MSSP Savings (2023)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171907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physicians · 50 hospitals · 750K lives · #1 in Texas for MSSP savings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493776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148840"/>
            <a:ext cx="64008" cy="8503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219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Southwestern Health Resources (SWHR)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45973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Nationally, 3 Consecutive Years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" y="26791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5,500 providers · 29 hospitals · ~$304M cumulative Medicare savings · 100% quality score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93776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64008" cy="8503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182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HealthTrackRx (Denton, TX)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41985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$45.5M Louisville Investment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363931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Nation's premier independent PCR lab · 10,000+ clinician network · CDC measles/H5N1 partner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4069080"/>
            <a:ext cx="493776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069080"/>
            <a:ext cx="64008" cy="8503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14223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MSSP Performance (2024)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379976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$803M Paid to 52 ACOs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" y="459943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of Texas ACOs earned payouts vs. 75% nationally — Texas leads the nation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77840" y="1188720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77840" y="12801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77840" y="168249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DFWHC Member Hospitals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315200" y="1188720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0" y="128016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265K+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15200" y="1682496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Healthcare Jobs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577840" y="2157984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77840" y="224942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$14B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577840" y="26517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Economic Impact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315200" y="2157984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315200" y="2249424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189K+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15200" y="265176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Practitioners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77840" y="3127248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77840" y="321868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577840" y="36210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DFW Labs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315200" y="3127248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315200" y="321868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315200" y="3621024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Health Orgs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577840" y="4096512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577840" y="41879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5577840" y="45902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MSSP ACOs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315200" y="4096512"/>
            <a:ext cx="160020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315200" y="4187952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$3–5B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315200" y="4590288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Lab Market Size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MOAT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AI Laws Are a Competitive Shield, Not a Burden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 1188 + TRAIGA create structural barriers for late entrants — Ardia builds compliance as core product capability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384048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70432"/>
            <a:ext cx="4206240" cy="5486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2801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SB 1188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" y="15910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Effective: September 1, 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" y="1865376"/>
            <a:ext cx="384048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19202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" y="2304288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212848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review of all AI-generated clinical content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1208" y="2651760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560320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disclosure when AI is used for diagnostic purposes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1208" y="2999232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290779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data must be stored in United States (Jan 1, 2026)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1208" y="334670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3255264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controls for all PHI systems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1208" y="36941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602736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Penalties: $5K–$250K per violation + license suspension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4632" y="3968496"/>
            <a:ext cx="384048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" y="40050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Ardia's Response: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2062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Audit trails for every AI output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US-only AWS infrastructure (us-east-1)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Patient disclosure integrated into workflow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RBAC built into platform architecture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00600" y="1170432"/>
            <a:ext cx="4206240" cy="3840480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1170432"/>
            <a:ext cx="4206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128016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TRAIGA (HB 149)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65192" y="159105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Effective: January 1, 2026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65192" y="1865376"/>
            <a:ext cx="384048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19202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Requirements: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01768" y="23042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84648" y="2212848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Healthcare-specific AI disclosure to patients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001768" y="265176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84648" y="2560320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Intent-based liability (startup-friendly vs. Colorado)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01768" y="29992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84648" y="2907792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harbor: NIST AI RMF substantial compliance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01768" y="334670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4648" y="3255264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36-month regulatory sandbox — no standard state license req.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001768" y="36941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84648" y="3602736"/>
            <a:ext cx="3703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Preempts all local AI ordinances → uniform TX compliance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65192" y="3968496"/>
            <a:ext cx="3840480" cy="0"/>
          </a:xfrm>
          <a:prstGeom prst="line">
            <a:avLst/>
          </a:prstGeom>
          <a:noFill/>
          <a:ln w="12700">
            <a:solidFill>
              <a:srgbClr val="2A4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400507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Ardia's Response: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965192" y="420624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NIST AI RMF aligned governance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Sandbox registration in progress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Behavioral manipulation prohibited — Ardia compliant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Single state framework reduces compliance cost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Momentum &amp; 12-Month Roadmap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— Q1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76656" y="13258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designed — Neuro-Symbolic Sandwich Architecture finalized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37944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3794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" y="183794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entity formed — Delaware LLC, DFW headquarters (Argyle, TX)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350008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5000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" y="235000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complete — 55+ DFW target labs, ACOs, BH orgs mapped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862072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6207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" y="28620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regulatory compliance plan — SB 1188 + TRAIGA framework defined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374136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741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" y="3374136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brand launched — Multi-page investor site with PLG sandbox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237744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8620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" y="38862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target LOIs in discussion — HealthTrackRx, Filos Health Lab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9601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12 Months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3258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325880"/>
            <a:ext cx="10058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32588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33872" y="14173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ToxIQ launch · Pilot with 2 DFW labs · First claims processed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258568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258568"/>
            <a:ext cx="1005840" cy="8229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258568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33872" y="2350008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MolecuIQ beta · 5 paying labs · ADLM Annual Meeting presence · $200K ARR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191256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3191256"/>
            <a:ext cx="100584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319125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833872" y="3282696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SWHR/BSWQA ACO pilot · BehaviorIQ alpha · Series A preparation · $600K ARR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54880" y="4123944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4123944"/>
            <a:ext cx="100584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1239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33872" y="4215384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Texas launch · 25 paying labs · NAACOS conference · Series A close · $1.5M ARR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 pilots → Q2 2026  ·  First Revenue → Q3 2026  ·  $600K ARR → Q4 2026  ·  Seed Break-Even → Q1 2027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Financial Projections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case: 15% success fee on recovered revenue + SaaS expansion. Net Rev ≠ Gross Billed.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15568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440680" y="1115568"/>
            <a:ext cx="12801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0" y="111556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739128" y="1115568"/>
            <a:ext cx="56692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84848" y="111556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324344" y="1115568"/>
            <a:ext cx="56692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70064" y="111556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909560" y="1115568"/>
            <a:ext cx="56692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111556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494776" y="1115568"/>
            <a:ext cx="56692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40496" y="111556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079992" y="1115568"/>
            <a:ext cx="566928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25712" y="111556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440680" y="1645920"/>
            <a:ext cx="1280160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0" y="1645920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Labs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739128" y="1645920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84848" y="164592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324344" y="1645920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70064" y="164592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909560" y="1645920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64592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494776" y="1645920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540496" y="164592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9079992" y="1645920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25712" y="1645920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440680" y="2176272"/>
            <a:ext cx="12801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0" y="2176272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($M)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739128" y="2176272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84848" y="217627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$0.6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324344" y="2176272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370064" y="217627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909560" y="2176272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955280" y="217627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$9.8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8494776" y="2176272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540496" y="217627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$24.5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9079992" y="2176272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125712" y="2176272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$51.0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440680" y="2706624"/>
            <a:ext cx="1280160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86400" y="2706624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6739128" y="2706624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84848" y="270662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7324344" y="2706624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370064" y="270662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7909560" y="2706624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7955280" y="270662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8494776" y="2706624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540496" y="270662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9079992" y="2706624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125712" y="2706624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5440680" y="3236976"/>
            <a:ext cx="12801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486400" y="3236976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6739128" y="3236976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784848" y="323697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(85%)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7324344" y="3236976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370064" y="323697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(22%)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7909560" y="3236976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955280" y="323697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8494776" y="3236976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540496" y="323697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9079992" y="3236976"/>
            <a:ext cx="566928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125712" y="3236976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5440680" y="3767328"/>
            <a:ext cx="1280160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486400" y="3767328"/>
            <a:ext cx="1188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900" dirty="0"/>
          </a:p>
        </p:txBody>
      </p:sp>
      <p:sp>
        <p:nvSpPr>
          <p:cNvPr id="69" name="Shape 66"/>
          <p:cNvSpPr/>
          <p:nvPr/>
        </p:nvSpPr>
        <p:spPr>
          <a:xfrm>
            <a:off x="6739128" y="3767328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784848" y="376732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7324344" y="3767328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7370064" y="376732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3" name="Shape 70"/>
          <p:cNvSpPr/>
          <p:nvPr/>
        </p:nvSpPr>
        <p:spPr>
          <a:xfrm>
            <a:off x="7909560" y="3767328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955280" y="376732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8494776" y="3767328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540496" y="376732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>
            <a:off x="9079992" y="3767328"/>
            <a:ext cx="566928" cy="512064"/>
          </a:xfrm>
          <a:prstGeom prst="rect">
            <a:avLst/>
          </a:prstGeom>
          <a:solidFill>
            <a:srgbClr val="0A1A2E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9125712" y="3767328"/>
            <a:ext cx="4754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5532120" y="43159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Assumptions: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5532120" y="4553712"/>
            <a:ext cx="3383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15% success fee on avg. $240K recovered/lab/yr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35% annual lab count growth from referrals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SaaS upsell at 60% of lab base by Year 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ACO module adds $180K–$420K/deal/yr</a:t>
            </a:r>
            <a:endParaRPr lang="en-US" sz="850" dirty="0"/>
          </a:p>
        </p:txBody>
      </p:sp>
      <p:sp>
        <p:nvSpPr>
          <p:cNvPr id="81" name="Text 78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Domain-Expert Founding Team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operators who lived the lab billing crisis — not engineers who discovered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0233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399032"/>
            <a:ext cx="822960" cy="822960"/>
          </a:xfrm>
          <a:prstGeom prst="ellipse">
            <a:avLst/>
          </a:prstGeom>
          <a:solidFill>
            <a:srgbClr val="0D9488">
              <a:alpha val="85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990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81328" y="13350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81328" y="16276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 &amp; Lab Operations Expert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404872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59152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DFW-based healthcare operator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6928" y="2532888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487168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expertise in lab billing &amp; RCM operations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66928" y="2660904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615184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Ardia's neuro-symbolic platform strategy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6928" y="2788920"/>
            <a:ext cx="82296" cy="822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743200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 regulatory compliance specialist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170432"/>
            <a:ext cx="40233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399032"/>
            <a:ext cx="822960" cy="822960"/>
          </a:xfrm>
          <a:prstGeom prst="ellipse">
            <a:avLst/>
          </a:prstGeom>
          <a:solidFill>
            <a:srgbClr val="D97706">
              <a:alpha val="85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39903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779008" y="13350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(Hiring)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79008" y="16276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Engineering Lead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64608" y="2404872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2359152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RAG architecture specialist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64608" y="2532888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10912" y="2487168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data pipeline engineering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64608" y="2660904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2615184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HIPAA-compliant infrastructure design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64608" y="2788920"/>
            <a:ext cx="82296" cy="822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10912" y="2743200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2x exited health tech engineer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3090672"/>
            <a:ext cx="40233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48640" y="3319272"/>
            <a:ext cx="822960" cy="822960"/>
          </a:xfrm>
          <a:prstGeom prst="ellipse">
            <a:avLst/>
          </a:prstGeom>
          <a:solidFill>
            <a:srgbClr val="6366F1">
              <a:alpha val="85000"/>
            </a:srgbClr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319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481328" y="32552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 (Hiring)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481328" y="35478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SaaS Sales Leader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20624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6928" y="4325112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279392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lab &amp; RCM enterprise sales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4453128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4407408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relationships: DFW lab directors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6928" y="4581144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" y="4535424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ADLM, SOFT, NAACOS network access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6928" y="4709160"/>
            <a:ext cx="82296" cy="82296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4663440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$3M+ quota carry experience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63440" y="3090672"/>
            <a:ext cx="40233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46320" y="3319272"/>
            <a:ext cx="822960" cy="822960"/>
          </a:xfrm>
          <a:prstGeom prst="ellipse">
            <a:avLst/>
          </a:prstGeom>
          <a:solidFill>
            <a:srgbClr val="EC4899">
              <a:alpha val="85000"/>
            </a:srgbClr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331927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5779008" y="325526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Advisor (Seeking)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779008" y="35478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Director / MD/PhD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46320" y="4206240"/>
            <a:ext cx="3657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864608" y="4325112"/>
            <a:ext cx="82296" cy="822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4279392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CLIA lab director credential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864608" y="4453128"/>
            <a:ext cx="82296" cy="822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10912" y="4407408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diagnostics expertise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64608" y="4581144"/>
            <a:ext cx="82296" cy="822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10912" y="4535424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 physician leadership background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64608" y="4709160"/>
            <a:ext cx="82296" cy="82296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10912" y="4663440"/>
            <a:ext cx="35661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UTSW or BSWQA affiliation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73659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SOUGHT: Lab Director (MD/PhD) · Health AI VC Partner · NAACOS / ADLM Network Lead · TX Healthcare Attorney · DFW Accelerator Mentor (Health Wildcatters / Techstars Physical Health FW)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Neuro-Symbolic Sandwich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LLM reasoning + symbolic rule engine + ML outcome model — explainable, auditable, defensible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27248" y="1261872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7043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 835/837 · FHIR R4 · HL7 v2 · Direct EHR API · AES-256 Transit Encryption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645920"/>
            <a:ext cx="8412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459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REASONING LAYER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27248" y="1737360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645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· GPT-4o · Clinical context window · Chain-of-thought denial analysis · Evidence identification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21408"/>
            <a:ext cx="8412480" cy="457200"/>
          </a:xfrm>
          <a:prstGeom prst="rect">
            <a:avLst/>
          </a:prstGeom>
          <a:solidFill>
            <a:srgbClr val="0D2035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1214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RULES ENGINE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27248" y="2212848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12140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 LCD/NCD rules · MolDx requirements · Payer-specific coding trees · Prior auth logic · TRAIGA/SB 1188 compliance gates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596896"/>
            <a:ext cx="8412480" cy="457200"/>
          </a:xfrm>
          <a:prstGeom prst="rect">
            <a:avLst/>
          </a:prstGeom>
          <a:solidFill>
            <a:srgbClr val="14293D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9689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EVIDENCE RETRIEVAL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27248" y="2688336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59689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medical databases · CMS coverage policies · NCCN guidelines · PubMed clinical evidence · ALJ/MAC decision history · 340ms retrieval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072384"/>
            <a:ext cx="84124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7238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 GATE  ★ SB 1188 REQUIRED 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27248" y="3163824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07238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review before any claim action · Explainable AI decisions · Full audit trail · Patient disclosure trigger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547872"/>
            <a:ext cx="84124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5478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OUTCOME PREDICTOR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27248" y="3639312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354787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probability scoring · Payer behavior models · Continuous learning from outcomes · Denial pattern detection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023360"/>
            <a:ext cx="8412480" cy="45720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23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LEARNING LAYER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127248" y="4114800"/>
            <a:ext cx="0" cy="274320"/>
          </a:xfrm>
          <a:prstGeom prst="line">
            <a:avLst/>
          </a:prstGeom>
          <a:noFill/>
          <a:ln w="12700">
            <a:solidFill>
              <a:srgbClr val="3A50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0233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brief generation · Multi-channel submission · ERA auto-posting · Model retraining on adjudications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645152"/>
            <a:ext cx="128016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645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BAA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783080" y="4645152"/>
            <a:ext cx="128016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83080" y="4645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CLIA Compatible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0" y="4645152"/>
            <a:ext cx="128016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0" y="4645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4645152"/>
            <a:ext cx="128016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4645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Compliant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035040" y="4645152"/>
            <a:ext cx="128016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4645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AI RMF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452360" y="4645152"/>
            <a:ext cx="1280160" cy="347472"/>
          </a:xfrm>
          <a:prstGeom prst="rect">
            <a:avLst/>
          </a:prstGeom>
          <a:solidFill>
            <a:srgbClr val="0D20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464515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Data Only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POTENTIAL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 Market Is Validated and Active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795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$26B+ in RCM M&amp;A and IPO activity (2023–2025). Strategic acquirers actively consolidating AI-enabled RCM platforms.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07008"/>
            <a:ext cx="64008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280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RCM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12064" y="15910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Equity Buyout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1298448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131673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129844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TowerBrook + CD&amp;R · Nov 2024 · 29% premium · $1T+ provider rev managed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9476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947672"/>
            <a:ext cx="6400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0208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Waystar (WAY)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" y="233172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IPO — Nasdaq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2039112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057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2039112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2024 · $967M raised · 42% EBITDA margin · 30,000+ healthcare clients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68833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688336"/>
            <a:ext cx="64008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27614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Technologies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" y="30723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Roll-Up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2779776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0" y="27980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$800M+ Rev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663440" y="277977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Mountain Capital · Access Healthcare + SmarterDx + Thoughtful.ai · 2025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42900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429000"/>
            <a:ext cx="64008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350215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2064" y="38130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VC-Backed Growth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51760" y="3520440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5387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$205M Raised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63440" y="3520440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a16z lead · $120M Series C (2024) · 650+ hospitals · 6,500 outpatient sites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16966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169664"/>
            <a:ext cx="64008" cy="6583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" y="42428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AI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2064" y="455371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4261104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0" y="42793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$902M Raised → Shutdown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663440" y="426110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2023 · Overpromised AI, underdelivered results · Key lesson: demonstrate real clinical value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92040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HealthTech AI RCM Valuation Multiples: 6–8× Revenue (AI-native premium) · 10–20× EBITDA at scale · 83% round size premium vs. non-AI health tech (2025)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3200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 Seed Round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· SAFE Note · $18M Post-Money Valuation Cap · DFW/Texas-Focused VCs and Strategic Angels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20040" y="1280160"/>
          <a:ext cx="40233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4572000" y="1261872"/>
            <a:ext cx="4297680" cy="658368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0" y="126187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81728" y="131673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AI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949440" y="1316736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· $1.40M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81728" y="159105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 (x2), platform build, cloud infrastructure, FHIR/HL7 integrations, security audit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572000" y="2011680"/>
            <a:ext cx="4297680" cy="658368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0" y="201168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81728" y="206654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Go-to-Market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49440" y="2066544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· $0.88M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81728" y="2340864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 hire, ADLM/SOFT/NAACOS conference presence, PLG tooling, CRM, pilot conversion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0" y="2761488"/>
            <a:ext cx="4297680" cy="658368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572000" y="2761488"/>
            <a:ext cx="54864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681728" y="281635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Compliance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949440" y="2816352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· $0.63M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81728" y="309067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counsel, HIPAA attestation, TX SB 1188 compliance, NIST AI RMF program, CLIA integration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0" y="3511296"/>
            <a:ext cx="4297680" cy="658368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3511296"/>
            <a:ext cx="54864" cy="6583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81728" y="356616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 &amp; Legal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949440" y="3566160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· $0.35M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81728" y="384048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Accounting, CFO fractional, IP/patent strategy, Delaware corp maintenance, D&amp;O insurance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0" y="4261104"/>
            <a:ext cx="4297680" cy="658368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0" y="4261104"/>
            <a:ext cx="54864" cy="6583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681728" y="4315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949440" y="4315968"/>
            <a:ext cx="18105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 · $0.25M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681728" y="459028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runway buffer and opportunistic advisor/angel engagement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This Round Unlocks: MVP Launch → 2 Paid Pilots → $600K ARR → Series A at $12–18M ARR → $60–100M+ Valuation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274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274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400" y="274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51760" y="274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274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960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960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960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960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960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16459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16459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16459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57400" y="16459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16459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6459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3317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" y="23317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23317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23317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23317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3317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0175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30175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63040" y="30175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57400" y="30175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51760" y="30175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30175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703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" y="3703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63040" y="3703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57400" y="3703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51760" y="3703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46120" y="37033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4389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" y="4389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63040" y="4389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57400" y="4389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651760" y="4389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46120" y="4389120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5029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10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</a:t>
            </a:r>
            <a:endParaRPr lang="en-US" sz="4200" dirty="0"/>
          </a:p>
        </p:txBody>
      </p:sp>
      <p:sp>
        <p:nvSpPr>
          <p:cNvPr id="46" name="Text 44"/>
          <p:cNvSpPr/>
          <p:nvPr/>
        </p:nvSpPr>
        <p:spPr>
          <a:xfrm>
            <a:off x="274320" y="115214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600" kern="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1591056"/>
            <a:ext cx="3200400" cy="0"/>
          </a:xfrm>
          <a:prstGeom prst="line">
            <a:avLst/>
          </a:prstGeom>
          <a:noFill/>
          <a:ln w="19050">
            <a:solidFill>
              <a:srgbClr val="CCFBF1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82880" y="182880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for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revenue recovery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era when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payers use AI to deny.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65760" y="3639312"/>
            <a:ext cx="338328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63931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Dallas–Fort Worth, Texas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65760" y="4005072"/>
            <a:ext cx="338328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00507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ardiahealthlabs.com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370832"/>
            <a:ext cx="338328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37083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Raising: $3.5M Seed (SAFE)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4736592"/>
            <a:ext cx="3383280" cy="310896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4736592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founders@ardiahealthlabs.com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389120" y="5029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4389120" y="1005840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98848" y="106070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$250B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5650992" y="107899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medicine market by 2030 — Ardia's expanding TAM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389120" y="1581912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98848" y="163677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2000" dirty="0"/>
          </a:p>
        </p:txBody>
      </p:sp>
      <p:sp>
        <p:nvSpPr>
          <p:cNvPr id="63" name="Text 61"/>
          <p:cNvSpPr/>
          <p:nvPr/>
        </p:nvSpPr>
        <p:spPr>
          <a:xfrm>
            <a:off x="5650992" y="16550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diagnostic denial rate — 3× the healthcare average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389120" y="2157984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98848" y="2212848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650992" y="223113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claims never appealed — recoverable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389120" y="2734056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498848" y="278892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$70B</a:t>
            </a:r>
            <a:endParaRPr lang="en-US" sz="2000" dirty="0"/>
          </a:p>
        </p:txBody>
      </p:sp>
      <p:sp>
        <p:nvSpPr>
          <p:cNvPr id="69" name="Text 67"/>
          <p:cNvSpPr/>
          <p:nvPr/>
        </p:nvSpPr>
        <p:spPr>
          <a:xfrm>
            <a:off x="5650992" y="28072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RCM market size by 2030 (24.2% CAGR)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389120" y="3310128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498848" y="33649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$8.9B</a:t>
            </a:r>
            <a:endParaRPr lang="en-US" sz="2000" dirty="0"/>
          </a:p>
        </p:txBody>
      </p:sp>
      <p:sp>
        <p:nvSpPr>
          <p:cNvPr id="72" name="Text 70"/>
          <p:cNvSpPr/>
          <p:nvPr/>
        </p:nvSpPr>
        <p:spPr>
          <a:xfrm>
            <a:off x="5650992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RCM acquired — validates market scale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89120" y="3886200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98848" y="394106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5650992" y="39593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competitors targeting independent labs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4389120" y="4462272"/>
            <a:ext cx="4480560" cy="512064"/>
          </a:xfrm>
          <a:prstGeom prst="rect">
            <a:avLst/>
          </a:prstGeom>
          <a:solidFill>
            <a:srgbClr val="0D2035"/>
          </a:solidFill>
          <a:ln w="12700">
            <a:solidFill>
              <a:srgbClr val="1E324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98848" y="451713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$3.5M</a:t>
            </a:r>
            <a:endParaRPr lang="en-US" sz="2000" dirty="0"/>
          </a:p>
        </p:txBody>
      </p:sp>
      <p:sp>
        <p:nvSpPr>
          <p:cNvPr id="78" name="Text 76"/>
          <p:cNvSpPr/>
          <p:nvPr/>
        </p:nvSpPr>
        <p:spPr>
          <a:xfrm>
            <a:off x="5650992" y="453542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raise to capture this white space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389120" y="4663440"/>
            <a:ext cx="448056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389120" y="4663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— BE PART OF THE CATEGORY THAT PAYS LABS WHAT THEY'VE EARNED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Ardia Health — Investor Pitch Deck</dc:title>
  <dc:subject>PptxGenJS Presentation</dc:subject>
  <dc:creator>Ardia Health</dc:creator>
  <cp:lastModifiedBy>Ardia Health</cp:lastModifiedBy>
  <cp:revision>1</cp:revision>
  <dcterms:created xsi:type="dcterms:W3CDTF">2026-03-15T23:03:12Z</dcterms:created>
  <dcterms:modified xsi:type="dcterms:W3CDTF">2026-03-15T23:03:12Z</dcterms:modified>
</cp:coreProperties>
</file>