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ARDIA HEALTH LABS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Revenue Recovery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Independent Clinical Laboratories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200400" y="2697480"/>
            <a:ext cx="27432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8346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$10–12 Billion in Lost Revenue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Precision AI and Deep Payer Intelligence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January 2026  |  Delaware LLC  |  Argyle, TX (DFW)  |  ardiahealthlabs.com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Pre-Revenue  •  Seed Stage  •  DFW Pilot: Q2 2026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INVESTOR USE ONLY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2296" cy="777240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A1F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0" y="5047488"/>
            <a:ext cx="155448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ARDIA HEALTH LABS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28600" y="10972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Independent Labs Are Losing Billions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9144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$10–12 Billion is lost annually by US independent clinical laboratories to preventable claim denials — and 65% of those denied claims are never appealed.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1572768"/>
            <a:ext cx="1572768" cy="1481328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8600" y="1645920"/>
            <a:ext cx="1572768" cy="8147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$10–12B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01752" y="2431938"/>
            <a:ext cx="1426464" cy="5629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annually by US labs to preventable claim denials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65960" y="1572768"/>
            <a:ext cx="1572768" cy="1481328"/>
          </a:xfrm>
          <a:prstGeom prst="rect">
            <a:avLst/>
          </a:prstGeom>
          <a:solidFill>
            <a:srgbClr val="0D7C6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965960" y="1645920"/>
            <a:ext cx="1572768" cy="8147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039112" y="2431938"/>
            <a:ext cx="1426464" cy="5629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Denied claims never appealed, despite 50–83% win rates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03320" y="1572768"/>
            <a:ext cx="1572768" cy="1481328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03320" y="1645920"/>
            <a:ext cx="1572768" cy="8147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776472" y="2431938"/>
            <a:ext cx="1426464" cy="5629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diagnostic denial rate (XiFin 2024, 20M+ claims)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40680" y="1572768"/>
            <a:ext cx="1572768" cy="1481328"/>
          </a:xfrm>
          <a:prstGeom prst="rect">
            <a:avLst/>
          </a:prstGeom>
          <a:solidFill>
            <a:srgbClr val="0D7C6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40680" y="1645920"/>
            <a:ext cx="1572768" cy="8147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2.76×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513832" y="2431938"/>
            <a:ext cx="1426464" cy="5629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denial odds for independent vs. hospital labs (JAMA 2025)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178040" y="1572768"/>
            <a:ext cx="1572768" cy="1481328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78040" y="1645920"/>
            <a:ext cx="1572768" cy="8147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75,000+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251192" y="2431938"/>
            <a:ext cx="1426464" cy="5629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 tests mapping to fewer than 200 CPT codes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4320" y="31729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Root Causes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74320" y="35204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PAMA rate cuts reducing lab reimbursement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74320" y="38221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MolDX/DEX Z-code compliance across 28+ states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74320" y="412394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Pharmacogenomics (PGx) &amp; NGS billing complexity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74320" y="442569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Prior authorization requirements growing +300%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63440" y="3172968"/>
            <a:ext cx="4114800" cy="182880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54880" y="3291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AI — and Why Now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00600" y="36576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Rule complexity exceeds human capacity at scale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00600" y="395935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can cross-reference 847+ LCD/NCD/MolDX rules in &lt;1 second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00600" y="426110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LLM clinical reasoning generates appeal briefs in &lt;90 seconds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00600" y="456285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Independent labs cannot afford dedicated billing staff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2296" cy="777240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A1F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0" y="5047488"/>
            <a:ext cx="155448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ARDIA HEALTH LABS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28600" y="10972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Ardia's Neuro-Symbolic AI Platform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91440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three-layer AI architecture that autonomously detects, prevents, and appeals claim denials — no manual intervention required.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1417320"/>
            <a:ext cx="8686800" cy="841248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417320"/>
            <a:ext cx="7315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4630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LLM Clinical Reasoning Engine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1737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API: Reads clinical documentation, maps tests to diagnoses, generates human-quality appeal letters in &lt;90 seconds. Understands medical necessity language at payer level.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2359152"/>
            <a:ext cx="8686800" cy="841248"/>
          </a:xfrm>
          <a:prstGeom prst="rect">
            <a:avLst/>
          </a:prstGeom>
          <a:solidFill>
            <a:srgbClr val="0D7C6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2359152"/>
            <a:ext cx="7315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4048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Symbolic Policy Engine (847 Rules)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4048" y="26791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LCD/NCD/MolDX/DEX policy encoded as deterministic logic. Checks each claim against applicable coverage criteria, ABN requirements, and prior auth rules — 100% rule coverage, zero hallucinations.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8600" y="3300984"/>
            <a:ext cx="8686800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3300984"/>
            <a:ext cx="7315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34670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— ML Denial Prediction Model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4048" y="3621024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 trained on historical claims data predicts denial probability before submission. Allows labs to correct errors pre-submission and eliminate preventable rejections upstream.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8600" y="4315968"/>
            <a:ext cx="8686800" cy="548640"/>
          </a:xfrm>
          <a:prstGeom prst="rect">
            <a:avLst/>
          </a:prstGeom>
          <a:solidFill>
            <a:srgbClr val="14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370832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EDI 835/837 + FHIR R4 integration → Claims analyzed → Denials predicted → Appeal brief generated → Revenue recovered → 15% success fee collected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2296" cy="777240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A1F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0" y="5047488"/>
            <a:ext cx="155448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ARDIA HEALTH LABS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28600" y="10972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Medicine: The Highest-Stakes Billing Crisis in Healthcare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91440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medicine — pharmacogenomics, NGS, molecular diagnostics — represents the fastest-growing segment of lab testing and the most underserved by existing billing tools.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1481328"/>
            <a:ext cx="192024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8600" y="1554480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$120B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01752" y="2117750"/>
            <a:ext cx="1773936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Medicine TAM (2025)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04872" y="1481328"/>
            <a:ext cx="1920240" cy="1097280"/>
          </a:xfrm>
          <a:prstGeom prst="rect">
            <a:avLst/>
          </a:prstGeom>
          <a:solidFill>
            <a:srgbClr val="0D7C6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04872" y="1554480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$250B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478024" y="2117750"/>
            <a:ext cx="1773936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by 2030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81144" y="1481328"/>
            <a:ext cx="192024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81144" y="1554480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35.3%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654296" y="2117750"/>
            <a:ext cx="1773936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Dx denial rate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57416" y="1481328"/>
            <a:ext cx="1920240" cy="1097280"/>
          </a:xfrm>
          <a:prstGeom prst="rect">
            <a:avLst/>
          </a:prstGeom>
          <a:solidFill>
            <a:srgbClr val="0D7C6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57416" y="1554480"/>
            <a:ext cx="1920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28+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830568" y="2117750"/>
            <a:ext cx="1773936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using MolDX program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8600" y="2697480"/>
            <a:ext cx="4206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0040" y="27889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Precision Billing Problem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0040" y="3127248"/>
            <a:ext cx="4023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75,000+ genetic tests map to &lt;200 CPT codes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20040" y="3465576"/>
            <a:ext cx="4023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MolDX DEX Z-codes: required in 28 states, unknown to most billers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20040" y="3803904"/>
            <a:ext cx="4023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PGx (pharmacogenomics) prior auth: payer-specific, manual, high-denial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20040" y="4142232"/>
            <a:ext cx="4023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NGS (next-gen sequencing): NCCN guidelines must match diagnoses exactly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20040" y="4480560"/>
            <a:ext cx="4023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JAMA 2025 (n=29,919): independents face 2.76× denial vs. hospitals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09160" y="2697480"/>
            <a:ext cx="4206240" cy="219456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00600" y="27889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Ardia Wins in Precision Medicine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00600" y="3127248"/>
            <a:ext cx="4023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Only platform purpose-built for PGx + NGS + MolDX compliance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00600" y="3465576"/>
            <a:ext cx="4023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847-rule engine covers every LCD/NCD/DEX Z-code policy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00600" y="3803904"/>
            <a:ext cx="4023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LLM generates NCCN-aligned, payer-specific appeal language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00600" y="4142232"/>
            <a:ext cx="4023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ML model trained on precision medicine claims data specifically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00600" y="4480560"/>
            <a:ext cx="4023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Manasa's payer insider knowledge built the system that denies — we defeat it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2296" cy="777240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A1F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0" y="5047488"/>
            <a:ext cx="155448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ARDIA HEALTH LABS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28600" y="10972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Products: Four AI Modules for Four Billing Crises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9144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targets a specific, high-complexity billing segment where denial rates are highest and AI delivers the most value.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1389888"/>
            <a:ext cx="4279392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389888"/>
            <a:ext cx="4279392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14356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ToxIQ™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011680" y="1463040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Toxicology Revenue Intelligence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20040" y="1783080"/>
            <a:ext cx="4096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denial prevention and appeal automation for urine drug screening and definitive drug testing. Covers G0480–G0483, 80300–80377 CPT codes.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20040" y="2304288"/>
            <a:ext cx="40965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Medical necessity validation for DUS/definitive testing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Quantity limits &amp; frequency checking per payer LCD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Presumptive-to-definitive code bundling compliance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appeal for urine drug screen denials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28600" y="2926080"/>
            <a:ext cx="4279392" cy="182880"/>
          </a:xfrm>
          <a:prstGeom prst="rect">
            <a:avLst/>
          </a:prstGeom>
          <a:solidFill>
            <a:srgbClr val="F4F7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935224"/>
            <a:ext cx="40965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Architecture complete | DFW pilot Q2 2026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690872" y="1389888"/>
            <a:ext cx="4279392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90872" y="1389888"/>
            <a:ext cx="4279392" cy="347472"/>
          </a:xfrm>
          <a:prstGeom prst="rect">
            <a:avLst/>
          </a:prstGeom>
          <a:solidFill>
            <a:srgbClr val="0D7C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4356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MolecuIQ™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73952" y="1463040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Diagnostics &amp; Precision RCM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82312" y="1783080"/>
            <a:ext cx="4096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MolDX/DEX Z-code automation, CPT-to-genetic test mapping for 75,000+ tests, NGS prior authorization, and PGx claims processing.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82312" y="2304288"/>
            <a:ext cx="40965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DEX Z-code assignment and validation automation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PGx prior auth management across all major payers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NGS NCCN guideline-to-diagnosis alignment check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Molecular Dx appeal briefs with clinical evidence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690872" y="2926080"/>
            <a:ext cx="4279392" cy="182880"/>
          </a:xfrm>
          <a:prstGeom prst="rect">
            <a:avLst/>
          </a:prstGeom>
          <a:solidFill>
            <a:srgbClr val="F4F7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2935224"/>
            <a:ext cx="40965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Architecture complete | Primary focus module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28600" y="3200400"/>
            <a:ext cx="4279392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3200400"/>
            <a:ext cx="4279392" cy="347472"/>
          </a:xfrm>
          <a:prstGeom prst="rect">
            <a:avLst/>
          </a:prstGeom>
          <a:solidFill>
            <a:srgbClr val="B4530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" y="32461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AcoIQ™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011680" y="3273552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 Shared Savings Optimization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20040" y="3593592"/>
            <a:ext cx="4096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HCC risk adjustment coding optimization and shared savings attribution under MSSP Enhanced Track and ACO REACH.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20040" y="4114800"/>
            <a:ext cx="40965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HCC coding gap identification and documentation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Shared savings attribution modeling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MSSP Enhanced Track and ACO REACH compliance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Population health analytics for ACO performance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28600" y="4736592"/>
            <a:ext cx="4279392" cy="182880"/>
          </a:xfrm>
          <a:prstGeom prst="rect">
            <a:avLst/>
          </a:prstGeom>
          <a:solidFill>
            <a:srgbClr val="F4F7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4745736"/>
            <a:ext cx="40965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Phase 2 | 2027 expansion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690872" y="3200400"/>
            <a:ext cx="4279392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90872" y="3200400"/>
            <a:ext cx="4279392" cy="347472"/>
          </a:xfrm>
          <a:prstGeom prst="rect">
            <a:avLst/>
          </a:prstGeom>
          <a:solidFill>
            <a:srgbClr val="6D2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32461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BehaviorIQ™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473952" y="3273552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Health &amp; Addiction Medicine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782312" y="3593592"/>
            <a:ext cx="4096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billing for behavioral health organizations covering H-codes, J-codes (MAT), and CCBHC billing for DFW's 40+ behavioral health organizations.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782312" y="4114800"/>
            <a:ext cx="40965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MAT (medication-assisted treatment) J-code billing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CCBHC comprehensive billing optimization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H-code behavioral health claims compliance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SUD treatment billing &amp; appeals automation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690872" y="4736592"/>
            <a:ext cx="4279392" cy="182880"/>
          </a:xfrm>
          <a:prstGeom prst="rect">
            <a:avLst/>
          </a:prstGeom>
          <a:solidFill>
            <a:srgbClr val="F4F7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82312" y="4745736"/>
            <a:ext cx="40965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Phase 3 | 2027–2028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2296" cy="777240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A1F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0" y="5047488"/>
            <a:ext cx="155448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ARDIA HEALTH LABS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28600" y="10972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Technology: Built on Google Cloud Platform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91440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Ardia is 100% Google Cloud-native from day one — not an afterthought. GCP's healthcare compliance certifications and FHIR-native tooling match our architecture requirements precisely.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1463040"/>
            <a:ext cx="4114800" cy="320040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15544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PLATFORM STACK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19019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03120" y="190195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training, deployment, MLOps at scale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" y="23500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Data Engine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03120" y="235000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HIPAA-compliant FHIR R4 data processing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0040" y="279806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03120" y="279806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analytics on millions of records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" y="32461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FHIR Store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03120" y="32461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Interoperability — EDI 835/837 → FHIR R4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0040" y="369417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 / GKE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103120" y="369417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microservices, auto-scaling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0040" y="41422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Manager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03120" y="414223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HIPAA-grade credential and key management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17720" y="1463040"/>
            <a:ext cx="42976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17720" y="1463040"/>
            <a:ext cx="64008" cy="1536192"/>
          </a:xfrm>
          <a:prstGeom prst="rect">
            <a:avLst/>
          </a:prstGeom>
          <a:solidFill>
            <a:srgbClr val="0D7C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53619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Certifications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1856232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HIPAA BAA with Google Cloud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54880" y="2103120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HITRUST CSF (via GCP)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54880" y="2350008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SOC 2 Type II (roadmap)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54880" y="2596896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Texas SB 1188 AI disclosure ready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54880" y="2843784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TRAIGA (HB 149) compliant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17720" y="3127248"/>
            <a:ext cx="42976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17720" y="3127248"/>
            <a:ext cx="64008" cy="1536192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20040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Technology Stack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54880" y="3520440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Anthropic Claude API — LLM clinical reasoning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54880" y="3767328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Salesforce Health Cloud — CRM &amp; distribution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54880" y="4014216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FHIR R4 + HL7 2.x — interoperability layer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54880" y="4261104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EDI 835/837 — payer claims pipeline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54880" y="4507992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Python / React / Node.js — application layer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2296" cy="777240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A1F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0" y="5047488"/>
            <a:ext cx="155448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ARDIA HEALTH LABS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28600" y="10972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Deep Expertise Where It Matters Most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91440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co-founders with complementary, non-overlapping expertise — the technical architect who builds the AI and the payer insider who built the denial logic we defeat.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1417320"/>
            <a:ext cx="4206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417320"/>
            <a:ext cx="4206240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1417320"/>
            <a:ext cx="4206240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4447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Vadlamudi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0040" y="170078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Product Designer / Enterprise Architect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011680"/>
            <a:ext cx="1371600" cy="201168"/>
          </a:xfrm>
          <a:prstGeom prst="rect">
            <a:avLst/>
          </a:prstGeom>
          <a:solidFill>
            <a:srgbClr val="14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01168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TECHNICAL PERSON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755648" y="2011680"/>
            <a:ext cx="1188720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55648" y="20116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AI EXPERT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20040" y="230428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Platform architecture &amp; product design (daily, active)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0040" y="261518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Neuro-Symbolic Sandwich Architecture inventor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0040" y="29260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FHIR/HL7 interoperability &amp; clinical data pipelines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0040" y="323697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Healthcare AI, revenue cycle management &amp; payer logic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0040" y="354787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Enterprise systems architecture &amp; GCP implementation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0040" y="3858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Based in Argyle, TX — 15 min from #1 pilot prospect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20040" y="416966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Contact: ram.vadlamudi@ardiahealthlabs.com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1417320"/>
            <a:ext cx="4206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1417320"/>
            <a:ext cx="4206240" cy="530352"/>
          </a:xfrm>
          <a:prstGeom prst="rect">
            <a:avLst/>
          </a:prstGeom>
          <a:solidFill>
            <a:srgbClr val="0D7C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14447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Manasa Jampani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800600" y="170078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&amp; CEO  |  Business Strategy &amp; Operations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00600" y="2011680"/>
            <a:ext cx="1280160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201168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BACKGROUND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144768" y="2011680"/>
            <a:ext cx="1280160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44768" y="201168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 INSIDER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800600" y="230428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CEO — business strategy, GTM, investor relations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00600" y="261518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12+ years inside payer systems that generate denials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00600" y="29260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Cigna, UnitedHealth Group, Optum, Teladoc Health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00600" y="323697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Built the denial logic that Ardia's AI now defeats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00600" y="354787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AI background spanning clinical ops &amp; payer strategy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00600" y="3858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Unparalleled competitive intelligence from inside payers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800600" y="416966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founders@ardiahealthlabs.com  |  (469) 499-6435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2296" cy="777240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A1F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0" y="5047488"/>
            <a:ext cx="155448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ARDIA HEALTH LABS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28600" y="10972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Opportunity: 7,000+ Labs, $10–12B Recoverable Revenue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91440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 independent clinical lab market is large, fragmented, and massively underserved by billing technology — creating an exceptional AI opportunity.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1444752"/>
            <a:ext cx="192024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8600" y="1517904"/>
            <a:ext cx="192024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7,000+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01752" y="2028139"/>
            <a:ext cx="1773936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CLIA-certified independent US labs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04872" y="1444752"/>
            <a:ext cx="1920240" cy="1005840"/>
          </a:xfrm>
          <a:prstGeom prst="rect">
            <a:avLst/>
          </a:prstGeom>
          <a:solidFill>
            <a:srgbClr val="0D7C6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04872" y="1517904"/>
            <a:ext cx="192024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$120B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478024" y="2028139"/>
            <a:ext cx="1773936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precision medicine TAM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81144" y="1444752"/>
            <a:ext cx="192024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81144" y="1517904"/>
            <a:ext cx="192024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$10–12B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654296" y="2028139"/>
            <a:ext cx="1773936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recoverable revenue (15% fee = $1.5–1.8B ARR at scale)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57416" y="1444752"/>
            <a:ext cx="1920240" cy="1005840"/>
          </a:xfrm>
          <a:prstGeom prst="rect">
            <a:avLst/>
          </a:prstGeom>
          <a:solidFill>
            <a:srgbClr val="0D7C6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57416" y="1517904"/>
            <a:ext cx="192024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33,000+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830568" y="2028139"/>
            <a:ext cx="1773936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DFW-area healthcare organizations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" y="257860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DFW Phase 1 Pilot Prospects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28600" y="2907792"/>
            <a:ext cx="8686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2907792"/>
            <a:ext cx="54864" cy="438912"/>
          </a:xfrm>
          <a:prstGeom prst="rect">
            <a:avLst/>
          </a:prstGeom>
          <a:solidFill>
            <a:srgbClr val="0D7C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9443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HealthTrackRx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450592" y="294436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Denton, TX — Nation's premier PCR-based infectious disease lab. 15 minutes from Ardia HQ.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3383280"/>
            <a:ext cx="8686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3383280"/>
            <a:ext cx="54864" cy="438912"/>
          </a:xfrm>
          <a:prstGeom prst="rect">
            <a:avLst/>
          </a:prstGeom>
          <a:solidFill>
            <a:srgbClr val="0D7C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198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Health Systems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450592" y="341985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Irving, TX — 1M+ tests per year. Major DFW-area independent lab.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3858768"/>
            <a:ext cx="8686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28600" y="3858768"/>
            <a:ext cx="54864" cy="438912"/>
          </a:xfrm>
          <a:prstGeom prst="rect">
            <a:avLst/>
          </a:prstGeom>
          <a:solidFill>
            <a:srgbClr val="0D7C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89534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DFW Toxicology Labs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450592" y="389534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DFW-area tox labs — highest denial rate segment, fastest to pilot.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28600" y="4334256"/>
            <a:ext cx="8686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28600" y="4334256"/>
            <a:ext cx="54864" cy="438912"/>
          </a:xfrm>
          <a:prstGeom prst="rect">
            <a:avLst/>
          </a:prstGeom>
          <a:solidFill>
            <a:srgbClr val="0D7C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3708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DFW PGx Providers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450592" y="43708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Pharmacogenomics labs adopting precision medicine billing in DFW metro.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2296" cy="777240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A1F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0" y="5047488"/>
            <a:ext cx="155448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ARDIA HEALTH LABS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28600" y="10972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Model: Zero-Risk Revenue Share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91440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success fee on recovered revenue — labs pay nothing unless Ardia puts money in their account. Eliminating procurement friction and creating immediate, measurable ROI.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1463040"/>
            <a:ext cx="420624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8600" y="150876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4800" dirty="0"/>
          </a:p>
        </p:txBody>
      </p:sp>
      <p:sp>
        <p:nvSpPr>
          <p:cNvPr id="10" name="Shape 8"/>
          <p:cNvSpPr/>
          <p:nvPr/>
        </p:nvSpPr>
        <p:spPr>
          <a:xfrm>
            <a:off x="1417320" y="1463040"/>
            <a:ext cx="45720" cy="1188720"/>
          </a:xfrm>
          <a:prstGeom prst="rect">
            <a:avLst/>
          </a:prstGeom>
          <a:solidFill>
            <a:srgbClr val="14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1554480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Fee on Recovered Revenue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54480" y="1874520"/>
            <a:ext cx="2788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upfront cost to labs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risk — Ardia wins only when labs win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hardware. No setup fees. No long-term contracts.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1463040"/>
            <a:ext cx="4206240" cy="1188720"/>
          </a:xfrm>
          <a:prstGeom prst="rect">
            <a:avLst/>
          </a:prstGeom>
          <a:solidFill>
            <a:srgbClr val="0D7C6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155448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(2028+)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00600" y="181051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Subscription Tier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00600" y="21031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High-volume labs add a monthly platform subscription alongside the success fee — creating recurring predictable ARR layered on the performance base.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74320" y="2788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28600" y="3127248"/>
            <a:ext cx="86868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163824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Denied Claim Value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09360" y="3163824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$850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474720"/>
            <a:ext cx="8686800" cy="320040"/>
          </a:xfrm>
          <a:prstGeom prst="rect">
            <a:avLst/>
          </a:prstGeom>
          <a:solidFill>
            <a:srgbClr val="F4F7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511296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Processed / Lab / Month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09360" y="3511296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500–2,000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3822192"/>
            <a:ext cx="86868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858768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Appeal Win Rate (AI-assisted)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09360" y="385876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50–83%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28600" y="4169664"/>
            <a:ext cx="8686800" cy="320040"/>
          </a:xfrm>
          <a:prstGeom prst="rect">
            <a:avLst/>
          </a:prstGeom>
          <a:solidFill>
            <a:srgbClr val="F4F7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4206240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Ardia Revenue / Recovered Claim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09360" y="420624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$127.50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28600" y="4517136"/>
            <a:ext cx="86868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4553712"/>
            <a:ext cx="5943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Revenue / Pilot Lab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09360" y="455371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$382K–$2.5M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2296" cy="777240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A1F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0" y="5047488"/>
            <a:ext cx="155448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ARDIA HEALTH LABS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28600" y="10972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Go-To-Market: DFW-First, Then Statewide, Then National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91440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Product-led growth starting with toxicology and molecular labs in the Dallas-Fort Worth metro — the nation's 4th-largest healthcare market — then expanding by module and geography.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1481328"/>
            <a:ext cx="28346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481328"/>
            <a:ext cx="283464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508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DFW Pilot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179222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217627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Target: 3–5 DFW-area toxicology + molecular labs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2660904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Primary: HealthTrackRx (Denton, TX)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3145536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Direct outreach by Ram (15 min from HQ)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363016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ToxIQ™ + MolecuIQ™ modules live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4114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Goal: First paid contracts, measurable ROI data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0" y="1481328"/>
            <a:ext cx="28346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1481328"/>
            <a:ext cx="2834640" cy="594360"/>
          </a:xfrm>
          <a:prstGeom prst="rect">
            <a:avLst/>
          </a:prstGeom>
          <a:solidFill>
            <a:srgbClr val="0D7C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1508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Texas Statewide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91840" y="179222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37560" y="217627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Expand to Austin, San Antonio, Houston labs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37560" y="2660904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Texas SB 1188 AI compliance creates demand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37560" y="3145536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Add AcoIQ™ for ACO market entry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37560" y="363016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Introduce SaaS subscription tier for high-volume labs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337560" y="4114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Target: 25+ lab contracts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72200" y="1481328"/>
            <a:ext cx="28346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72200" y="1481328"/>
            <a:ext cx="2834640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1508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National Expansion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63640" y="179222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2027–2028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09360" y="217627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Geographic expansion to high-lab-density states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09360" y="2660904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MolDX states (CA, WA, NY, FL) — precision medicine focus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309360" y="3145536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BehaviorIQ™ launch for behavioral health orgs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309360" y="363016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Channel partnerships with lab billing consultants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309360" y="4114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Target: 100+ contracts, Series A readiness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2296" cy="777240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A1F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0" y="5047488"/>
            <a:ext cx="155448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ARDIA HEALTH LABS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28600" y="10972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Roadmap: From Architecture to Revenue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91440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Ardia's platform architecture and core technology stack are complete. The path to first revenue is 90 days — DFW pilot contracts in Q2 2026.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1417320"/>
            <a:ext cx="1097280" cy="365760"/>
          </a:xfrm>
          <a:prstGeom prst="rect">
            <a:avLst/>
          </a:prstGeom>
          <a:solidFill>
            <a:srgbClr val="0D7C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463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2025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417320" y="1554480"/>
            <a:ext cx="457200" cy="45720"/>
          </a:xfrm>
          <a:prstGeom prst="rect">
            <a:avLst/>
          </a:prstGeom>
          <a:solidFill>
            <a:srgbClr val="0D7C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65960" y="1417320"/>
            <a:ext cx="6949440" cy="365760"/>
          </a:xfrm>
          <a:prstGeom prst="rect">
            <a:avLst/>
          </a:prstGeom>
          <a:solidFill>
            <a:srgbClr val="F4F7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65960" y="1417320"/>
            <a:ext cx="54864" cy="365760"/>
          </a:xfrm>
          <a:prstGeom prst="rect">
            <a:avLst/>
          </a:prstGeom>
          <a:solidFill>
            <a:srgbClr val="0D7C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84832" y="1481328"/>
            <a:ext cx="6720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application submitted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28600" y="1856232"/>
            <a:ext cx="1097280" cy="365760"/>
          </a:xfrm>
          <a:prstGeom prst="rect">
            <a:avLst/>
          </a:prstGeom>
          <a:solidFill>
            <a:srgbClr val="0D7C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1901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2026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417320" y="1993392"/>
            <a:ext cx="457200" cy="45720"/>
          </a:xfrm>
          <a:prstGeom prst="rect">
            <a:avLst/>
          </a:prstGeom>
          <a:solidFill>
            <a:srgbClr val="0D7C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65960" y="1856232"/>
            <a:ext cx="6949440" cy="365760"/>
          </a:xfrm>
          <a:prstGeom prst="rect">
            <a:avLst/>
          </a:prstGeom>
          <a:solidFill>
            <a:srgbClr val="F4F7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965960" y="1856232"/>
            <a:ext cx="54864" cy="365760"/>
          </a:xfrm>
          <a:prstGeom prst="rect">
            <a:avLst/>
          </a:prstGeom>
          <a:solidFill>
            <a:srgbClr val="0D7C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84832" y="1920240"/>
            <a:ext cx="6720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incorporated — Delaware LLC | Argyle, TX HQ | Founding team formalized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8600" y="2295144"/>
            <a:ext cx="1097280" cy="365760"/>
          </a:xfrm>
          <a:prstGeom prst="rect">
            <a:avLst/>
          </a:prstGeom>
          <a:solidFill>
            <a:srgbClr val="0D7C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234086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2026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417320" y="2432304"/>
            <a:ext cx="457200" cy="45720"/>
          </a:xfrm>
          <a:prstGeom prst="rect">
            <a:avLst/>
          </a:prstGeom>
          <a:solidFill>
            <a:srgbClr val="0D7C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65960" y="2295144"/>
            <a:ext cx="6949440" cy="365760"/>
          </a:xfrm>
          <a:prstGeom prst="rect">
            <a:avLst/>
          </a:prstGeom>
          <a:solidFill>
            <a:srgbClr val="F4F7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965960" y="2295144"/>
            <a:ext cx="54864" cy="365760"/>
          </a:xfrm>
          <a:prstGeom prst="rect">
            <a:avLst/>
          </a:prstGeom>
          <a:solidFill>
            <a:srgbClr val="0D7C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84832" y="2359152"/>
            <a:ext cx="6720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scope expanded: PGx + NGS + MolDX module architecture finalized based on DFW market discovery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28600" y="2734056"/>
            <a:ext cx="1097280" cy="365760"/>
          </a:xfrm>
          <a:prstGeom prst="rect">
            <a:avLst/>
          </a:prstGeom>
          <a:solidFill>
            <a:srgbClr val="0D7C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277977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2026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417320" y="2871216"/>
            <a:ext cx="457200" cy="45720"/>
          </a:xfrm>
          <a:prstGeom prst="rect">
            <a:avLst/>
          </a:prstGeom>
          <a:solidFill>
            <a:srgbClr val="0D7C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65960" y="2734056"/>
            <a:ext cx="6949440" cy="365760"/>
          </a:xfrm>
          <a:prstGeom prst="rect">
            <a:avLst/>
          </a:prstGeom>
          <a:solidFill>
            <a:srgbClr val="F4F7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965960" y="2734056"/>
            <a:ext cx="54864" cy="365760"/>
          </a:xfrm>
          <a:prstGeom prst="rect">
            <a:avLst/>
          </a:prstGeom>
          <a:solidFill>
            <a:srgbClr val="0D7C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84832" y="2798064"/>
            <a:ext cx="6720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launched (ardiahealthlabs.com) | GCP Cloud program application updated | Investor outreach active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28600" y="3172968"/>
            <a:ext cx="1097280" cy="365760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8600" y="321868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417320" y="3310128"/>
            <a:ext cx="4572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965960" y="3172968"/>
            <a:ext cx="6949440" cy="365760"/>
          </a:xfrm>
          <a:prstGeom prst="rect">
            <a:avLst/>
          </a:prstGeom>
          <a:solidFill>
            <a:srgbClr val="FFF8E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965960" y="3172968"/>
            <a:ext cx="54864" cy="365760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84832" y="3236976"/>
            <a:ext cx="6720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DFW pilot contracts (HealthTrackRx, 2–4 additional labs) | First revenue | ToxIQ™ + MolecuIQ™ live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28600" y="3611880"/>
            <a:ext cx="109728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8600" y="3657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417320" y="3749040"/>
            <a:ext cx="457200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965960" y="3611880"/>
            <a:ext cx="69494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1965960" y="3611880"/>
            <a:ext cx="54864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084832" y="3675888"/>
            <a:ext cx="6720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iteration based on pilot data | Begin Texas statewide outreach | Series A preparation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28600" y="4050792"/>
            <a:ext cx="109728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28600" y="409651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1417320" y="4187952"/>
            <a:ext cx="457200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965960" y="4050792"/>
            <a:ext cx="69494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1965960" y="4050792"/>
            <a:ext cx="54864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084832" y="4114800"/>
            <a:ext cx="6720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 statewide expansion | AcoIQ™ launch | 25+ lab contracts | SaaS subscription tier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28600" y="4489704"/>
            <a:ext cx="109728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28600" y="453542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2027+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1417320" y="4626864"/>
            <a:ext cx="457200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965960" y="4489704"/>
            <a:ext cx="69494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1965960" y="4489704"/>
            <a:ext cx="54864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084832" y="4553712"/>
            <a:ext cx="6720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expansion | BehaviorIQ™ | Channel partnerships | Series A close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 — SEED ROUND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to Get to First Revenue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0" y="1170432"/>
            <a:ext cx="36576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1325880"/>
            <a:ext cx="4572000" cy="1005840"/>
          </a:xfrm>
          <a:prstGeom prst="rect">
            <a:avLst/>
          </a:prstGeom>
          <a:solidFill>
            <a:srgbClr val="0D7C6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86000" y="137160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$500K – $750K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286000" y="1938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 |  Pre-Revenue  |  DFW Pilot Execution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2423160"/>
            <a:ext cx="8686800" cy="566928"/>
          </a:xfrm>
          <a:prstGeom prst="rect">
            <a:avLst/>
          </a:prstGeom>
          <a:solidFill>
            <a:srgbClr val="0B2A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2423160"/>
            <a:ext cx="640080" cy="566928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2423160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48716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Development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271576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ToxIQ™ &amp; MolecuIQ™ to production — ML model training, GCP infrastructure buildout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8600" y="3044952"/>
            <a:ext cx="8686800" cy="566928"/>
          </a:xfrm>
          <a:prstGeom prst="rect">
            <a:avLst/>
          </a:prstGeom>
          <a:solidFill>
            <a:srgbClr val="0B2A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" y="3044952"/>
            <a:ext cx="640080" cy="566928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3044952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1089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333756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DFW pilot execution — direct sales, lab integrations, EDI/FHIR connector builds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8600" y="3666744"/>
            <a:ext cx="8686800" cy="566928"/>
          </a:xfrm>
          <a:prstGeom prst="rect">
            <a:avLst/>
          </a:prstGeom>
          <a:solidFill>
            <a:srgbClr val="0B2A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" y="3666744"/>
            <a:ext cx="640080" cy="566928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3666744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373075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Expansion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5840" y="395935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engineering hire + 1st healthcare billing specialist for pilot support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4288536"/>
            <a:ext cx="8686800" cy="566928"/>
          </a:xfrm>
          <a:prstGeom prst="rect">
            <a:avLst/>
          </a:prstGeom>
          <a:solidFill>
            <a:srgbClr val="0B2A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" y="4288536"/>
            <a:ext cx="640080" cy="566928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4288536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05840" y="435254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Legal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05840" y="4581144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HIPAA/BAA compliance, Delaware entity operations, GCP credits, working capital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the Future of Lab Revenue Together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371600" y="1719072"/>
            <a:ext cx="64008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Ardia Health is the first AI-native revenue recovery platform built exclusively for independent clinical laboratories.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building this on Google Cloud. The time to invest is now.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71600" y="2724912"/>
            <a:ext cx="6400800" cy="1828800"/>
          </a:xfrm>
          <a:prstGeom prst="rect">
            <a:avLst/>
          </a:prstGeom>
          <a:solidFill>
            <a:srgbClr val="0A254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71600" y="2724912"/>
            <a:ext cx="64008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2816352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Vadlamudi — Founder &amp; Product Designer / Enterprise Architect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63040" y="310896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Manasa Jampani — Co-Founder &amp; CEO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463040" y="3401568"/>
            <a:ext cx="603504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3456432"/>
            <a:ext cx="6217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ram.vadlamudi@ardiahealthlabs.com  |  founders@ardiahealthlabs.com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(469) 679-3334 (Ram)  ·  (469) 499-6435 (Manasa)  |  ardiahealthlabs.com  |  Argyle, TX 76226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Ardia Health Labs LLC  |  Delaware LLC  |  Founded January 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Ardia Health — Investor Pitch Deck 2026</dc:title>
  <dc:subject>PptxGenJS Presentation</dc:subject>
  <dc:creator>Ardia Health Labs LLC</dc:creator>
  <cp:lastModifiedBy>Ardia Health Labs LLC</cp:lastModifiedBy>
  <cp:revision>1</cp:revision>
  <dcterms:created xsi:type="dcterms:W3CDTF">2026-03-21T22:34:58Z</dcterms:created>
  <dcterms:modified xsi:type="dcterms:W3CDTF">2026-03-21T22:34:58Z</dcterms:modified>
</cp:coreProperties>
</file>