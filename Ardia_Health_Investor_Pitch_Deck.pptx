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5EEAD4"/>
                </a:solidFill>
                <a:latin typeface="Arial"/>
              </a:defRPr>
            </a:pPr>
            <a:r>
              <a:rPr sz="1800" b="0" i="0" u="none" strike="noStrike">
                <a:solidFill>
                  <a:srgbClr val="5EEAD4"/>
                </a:solidFill>
                <a:latin typeface="Arial"/>
              </a:rPr>
              <a:t>Annual Recurring 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B8A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3.2</c:v>
                </c:pt>
                <c:pt idx="2">
                  <c:v>9.8</c:v>
                </c:pt>
                <c:pt idx="3">
                  <c:v>24.5</c:v>
                </c:pt>
                <c:pt idx="4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B8A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bubble3D val="0"/>
            <c:spPr>
              <a:solidFill>
                <a:srgbClr val="EC4899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Engineering &amp; AI (40%)</c:v>
                </c:pt>
                <c:pt idx="1">
                  <c:v>Sales &amp; GTM (25%)</c:v>
                </c:pt>
                <c:pt idx="2">
                  <c:v>Operations &amp; Compliance (18%)</c:v>
                </c:pt>
                <c:pt idx="3">
                  <c:v>G&amp;A &amp; Legal (10%)</c:v>
                </c:pt>
                <c:pt idx="4">
                  <c:v>Reserve (7%)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18</c:v>
                </c:pt>
                <c:pt idx="3">
                  <c:v>10</c:v>
                </c:pt>
                <c:pt idx="4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EEAD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2560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560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0280" y="2560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2560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07899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07899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107899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07899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0195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90195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190195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90195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190195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2491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272491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272491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0280" y="272491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0360" y="272491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54787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354787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354787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54787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0360" y="354787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3708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3708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00200" y="43708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43708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80360" y="43708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7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274320" y="1143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1600200"/>
            <a:ext cx="2926080" cy="0"/>
          </a:xfrm>
          <a:prstGeom prst="line">
            <a:avLst/>
          </a:prstGeom>
          <a:noFill/>
          <a:ln w="19050">
            <a:solidFill>
              <a:srgbClr val="CCFBF1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18288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Revenue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Labs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11480" y="3401568"/>
            <a:ext cx="301752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40156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DFW, Texas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3803904"/>
            <a:ext cx="301752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8039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Jan 2026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206240"/>
            <a:ext cx="301752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20624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LLC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0" y="8229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AI-Native Revenue Recovery Platform Built Exclusively for Independent Clinical Labs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4114800" y="2423160"/>
            <a:ext cx="146304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14800" y="25511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4114800" y="3081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Lab 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Unpaid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42432" y="2423160"/>
            <a:ext cx="146304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742432" y="25511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5742432" y="3081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70064" y="2423160"/>
            <a:ext cx="146304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370064" y="25511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600" dirty="0"/>
          </a:p>
        </p:txBody>
      </p:sp>
      <p:sp>
        <p:nvSpPr>
          <p:cNvPr id="52" name="Text 50"/>
          <p:cNvSpPr/>
          <p:nvPr/>
        </p:nvSpPr>
        <p:spPr>
          <a:xfrm>
            <a:off x="7370064" y="3081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Claims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Appealed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0" y="3858768"/>
            <a:ext cx="475488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0" y="385876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$3.5M Seed Round  ·  15% Success Fee Model  ·  Target: &lt;8 Months to First Revenue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114800" y="47548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ACCREDITED INVESTORS ONLY · ARDIA HEALTH ©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Labs Are Hemorrhaging Revenue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storm of rising denials, manual billing failures, and PAMA 2027 cuts is threatening lab viability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64008" cy="1664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$10–12B Unpaid Annually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5623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labs lose $10–12B in claims every year. Independent labs face 13.6%–27% denial rates — far above the 11.8% healthcare average.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61872"/>
            <a:ext cx="64008" cy="1664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63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Denials Go Unchallenged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85623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labs never appeal denied claims. When they do, 50–83% of appeals succeed — proving the revenue is recoverable.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72384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72384"/>
            <a:ext cx="64008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73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2735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$25–$181 Per Manual Appeal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66674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manual denial rework costs labs $25–$181 in staff time. Hospitals spend $19.7B annually just overturning denials.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72384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072384"/>
            <a:ext cx="64008" cy="16642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273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32735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PAMA 2027 Cuts Loom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66674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15%/year in Medicare rate cuts resume Jan 2027. Over 50% of labs say PAMA cuts would force a sale or merger.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 denial rate: 27%  ·  Toxicology billing errors: 80%+ from documentation gaps  ·  PAMA cuts: up to 45% cumulative by 2029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Forces Converge in 2026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window exists before payer AI dominates provider-side operations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82296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801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PAMA 2027 Existential Threat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59105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15%/year Medicare cuts resume Jan 1, 2027 after 7 congressional delays. Labs cannot wait — they need to recover every claimable dollar now. The RESULTS Act remains unpassed.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8412480" cy="82296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57984"/>
            <a:ext cx="64008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23113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2311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AI Battle of Bots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4203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AI denial engines grew from 8% to 34% full adoption. Provider-side AI is the only effective countermeasure. AI-generated denials require AI-powered appeals.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82296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08960"/>
            <a:ext cx="64008" cy="82296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1821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1821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Regulatory First-Mover Moat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49300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1188 (Sept 2025) &amp; TRAIGA (Jan 2026) mandate human-in-loop AI, US data residency, and patient disclosure. Compliant vendors built natively will dominate the market.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59936"/>
            <a:ext cx="8412480" cy="82296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59936"/>
            <a:ext cx="64008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413308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1330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VC at Peak Deployment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44398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captured 54% of all digital health VC in 2025. Investors paid an 83% premium per round for AI-enabled health startups. The funding window is open.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Clinical Intelligence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autonomous, lab-specific AI that reasons about clinical documentation to recover denied and underpaid revenue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ToxIQ™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 denial intelligence — LCD reasoning, MOR/confirmatory drug panel coding, synthetic opioid detection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48840"/>
            <a:ext cx="6400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40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MolecuIQ™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4963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diagnostics — MolDx coverage rules, NCCN evidence integration, NGS/PGx denial patterns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64008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AcoIQ™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4107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 population health — shared savings optimization, quality measure reconciliation, lab data 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77640"/>
            <a:ext cx="64008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69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BehaviorIQ™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3251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 &amp; MAT — SUD billing rules, OTP coding, prior auth for buprenorphine/naltrexone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188720"/>
            <a:ext cx="4297680" cy="3749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Ardia Wins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18653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810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Lab-Only Focus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56048" y="20665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tox, molecular, &amp; clinical labs — not retrofitted from hospital RCM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237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AI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56048" y="27249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+ 847 LCD rules + ML outcome prediction — explains every decision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1821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1272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 Second Draft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56048" y="33832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evidence-backed appeal briefs in under 90 seconds vs. 2+ hours manually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8404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7856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SB 1188 Native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56048" y="40416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review, US data residency, and audit trails built from day one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49884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4443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Only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56048" y="4700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recovered revenue — zero upfront cost aligns incentives perfectly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Autonomous Revenue Recovery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ingestion → AI reasoning → appeal generation → submission → payment posting → continuous learning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835/837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/ HL7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45920" y="2606040"/>
            <a:ext cx="10972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55648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55648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755648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38528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 LCD rules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outcome model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81528" y="2606040"/>
            <a:ext cx="10972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91256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91256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91256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191256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74136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91256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databases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340ms retrieval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17136" y="2606040"/>
            <a:ext cx="10972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26864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626864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9744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brief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 seconds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52744" y="2606040"/>
            <a:ext cx="10972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62472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62472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62472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062472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45352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engine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120-day CMS window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88352" y="2606040"/>
            <a:ext cx="10972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498080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Learn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680960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auto-posting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reconciliation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retraining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645152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6451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&lt;90s  Appeal Draft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42032" y="4645152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2032" y="46451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 Appeal Win Rate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26864" y="4645152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26864" y="46451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 Upfront Cost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711696" y="4645152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11696" y="46451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47×  Cost Advantage vs. Manual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$70 Billion AI RCM Market With a $12B Lab-Specific Opportunity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206240" cy="347472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381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09267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RCM Market by 2030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 CAGR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1463040"/>
            <a:ext cx="3108960" cy="256032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6786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128723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Center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RCM Spend (2026)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54480" y="1965960"/>
            <a:ext cx="2011680" cy="150876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086661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35823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$620M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28712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RCM (Yr 5)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1005840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005840"/>
            <a:ext cx="54864" cy="60350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10607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$96–100B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84064" y="13075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U.S. Lab Testing Revenue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1709928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1709928"/>
            <a:ext cx="54864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764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$10–12B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84064" y="20116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Revenue Lost to Unpaid Claims/Year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2414016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414016"/>
            <a:ext cx="54864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4064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84064" y="27157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Test Volume from Independent Labs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37760" y="3118104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118104"/>
            <a:ext cx="54864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3172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84064" y="34198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Clinical Labs (CLIA certified)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37760" y="3822192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37760" y="3822192"/>
            <a:ext cx="54864" cy="6035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877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$3–5B+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84064" y="41239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Metro Lab Market (Phase 1 Beachhead)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37760" y="4526280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37760" y="4526280"/>
            <a:ext cx="54864" cy="6035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45811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ACOs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84064" y="48280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MSSP — $803M Shared Savings (2024)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AI-Native Competitor Targets Independent Labs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RCM AI player serves hospitals. Ardia owns the independent lab category.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19456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05456" y="1170432"/>
            <a:ext cx="1691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11704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33672" y="1170432"/>
            <a:ext cx="1170432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1170432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Waystar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1170432"/>
            <a:ext cx="1170432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170432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RCM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47688" y="1170432"/>
            <a:ext cx="1170432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1170432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54696" y="1170432"/>
            <a:ext cx="1435608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54696" y="1170432"/>
            <a:ext cx="1435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Billing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572768"/>
            <a:ext cx="2194560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5727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Lab-Specific 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05456" y="15727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1176" y="15727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 for labs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33672" y="15727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1572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Hospital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40680" y="15727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572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Hospital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47688" y="15727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1572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Hospital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54696" y="1572768"/>
            <a:ext cx="1435608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0416" y="15727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Rule-based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029968"/>
            <a:ext cx="2194560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0299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/ Tox Coding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05456" y="20299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51176" y="20299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33672" y="20299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2029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40680" y="20299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2029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47688" y="20299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93408" y="2029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854696" y="2029968"/>
            <a:ext cx="1435608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0416" y="20299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Manual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2487168"/>
            <a:ext cx="2194560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4871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LCD/NCD Rules Engine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05456" y="24871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51176" y="24871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847 rules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233672" y="24871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79392" y="24871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40680" y="24871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24871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647688" y="24871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93408" y="24871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854696" y="2487168"/>
            <a:ext cx="1435608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00416" y="24871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2944368"/>
            <a:ext cx="2194560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29443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Reasoning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05456" y="29443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51176" y="29443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Explains decisions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233672" y="29443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79392" y="29443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40680" y="29443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0" y="29443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647688" y="29443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93408" y="29443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854696" y="2944368"/>
            <a:ext cx="1435608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00416" y="29443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4320" y="3401568"/>
            <a:ext cx="2194560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34015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SB 1188 Compliant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505456" y="34015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51176" y="34015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233672" y="34015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79392" y="34015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TBD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440680" y="34015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0" y="34015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TBD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647688" y="34015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93408" y="34015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TBD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854696" y="3401568"/>
            <a:ext cx="1435608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00416" y="34015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74320" y="3858768"/>
            <a:ext cx="2194560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38587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Model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05456" y="38587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51176" y="38587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15% recovered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233672" y="38587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79392" y="3858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License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440680" y="38587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86400" y="3858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License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647688" y="38587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93408" y="3858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License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854696" y="3858768"/>
            <a:ext cx="1435608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00416" y="38587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% of billed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74320" y="4315968"/>
            <a:ext cx="2194560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" y="43159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Lab Focus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505456" y="43159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51176" y="43159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Only segment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233672" y="43159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79392" y="4315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440680" y="43159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0" y="4315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647688" y="43159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693408" y="4315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854696" y="4315968"/>
            <a:ext cx="1435608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900416" y="43159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Broad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Comps: Waystar IPO $3.5B · R1 RCM acquired $8.9B · AKASA $205M funding @ 50k+ facilities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Entry. Recurring, High-Margin Revenue.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pay only when Ardia recovers money — aligning incentives and eliminating procurement friction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216152"/>
            <a:ext cx="10789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216152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0352" y="1216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Success Fee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47218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" y="17373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recovered revenue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19202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upfront cost. Ardia earns when the lab earns. Ideal for independent labs with 10K–100K tests/year. Typical lab value: $180K–$2.4M/year.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5029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42032"/>
            <a:ext cx="6400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615184"/>
            <a:ext cx="1078992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2615184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0352" y="2615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SaaS Platform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28712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$2,500–$8,500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" y="3136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(3-year contract)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" y="331927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 for labs exceeding denial recovery thresholds. Includes API integration, custom LCD rules, dedicated CSM, and compliance dashboards.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5029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31920"/>
            <a:ext cx="64008" cy="11155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4005072"/>
            <a:ext cx="1078992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4005072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0352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ACO Intelligence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42611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$12,500–$35,000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" y="4526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per ACO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" y="47091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AcoIQ population health analytics for BSWQA/SWHR-scale ACOs. Lab data pipelines, shared savings attribution, quality measure reporting.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23560" y="1143000"/>
            <a:ext cx="3200400" cy="38953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2618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15000" y="2212848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173736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 Size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173736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10K–500K tests/yr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779776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230428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Denial Rate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230428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15–27% ($540K–$2.7M denied)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15000" y="3346704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287121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Recovery 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287121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50–80% of worked denials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15000" y="3913632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343814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Lab/Yr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343814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$40K–$405K (15% success)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15000" y="4480560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40050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(PLG Model)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0" y="40050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$3,500–$8,000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15000" y="5047488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457200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45720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72–78% at scale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715000" y="5614416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51389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513892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months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715000" y="6181344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57058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Target (Yr 3)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0" y="570585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145%+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Beachhead → Texas → National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PLG-assisted enterprise sales: product sells itself, sales closes the enterprise contract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834640" cy="379476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28346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Beachhead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5603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230428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94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HealthTrackRx (Denton — PCR/molecular, 10K+ clinicians)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4632" y="281635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Health Systems (Irving — 1M+ tests/yr)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4632" y="3328416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 Health Lab (Dallas — AI-forward, explicitly seeking AI)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" y="384048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07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Laboratories (Farmers Branch — tox, treatment centers)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632" y="4352544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4281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BSWQA + SWHR ACOs (Phase 1 ACO channel entry)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1170432"/>
            <a:ext cx="2834640" cy="379476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1170432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17190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+ Behavioral Health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2103120"/>
            <a:ext cx="25603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0712" y="230428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194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BHG — 117 OTP locations, 24 states, 42K+ patients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10712" y="281635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Metrocare Services — 50K+ patients, Dallas County CCBHC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10712" y="332841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MHMR Tarrant County — Largest BH provider, Fort Worth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10712" y="38404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7307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Texas, Symetria Recovery — DFW MAT clinic networks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10712" y="43525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424281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MSSP ACO Network — 58 ACOs, $803M shared savings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72200" y="1170432"/>
            <a:ext cx="2834640" cy="379476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1170432"/>
            <a:ext cx="28346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17190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Expansion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2103120"/>
            <a:ext cx="25603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36792" y="2304288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194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 lab networks (UTSW — 14M tests/yr)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36792" y="2816352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Quest/LabCorp white-label opportunity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36792" y="3328416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OTP chains (BHG, New Season)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36792" y="3840480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7307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PE-backed lab rollup acquisition target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36792" y="4352544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424281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— UK NHS, Canada lab markets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14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 Motion: Freemium trial (5 denials) → 30-day pilot → success fee contract → SaaS upsell   |   CAC: $3.5K–$8K   |   Sales cycle: 4–8 weeks (vs. 6–18 months enterprise)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ADVANTAGE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 in the Nation's #1 Clinical AI Sandbox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hosts two nationally elite ACOs, 7+ independent labs, 40+ behavioral health orgs, and two 2025 AI governance laws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9377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64008" cy="8503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Baylor Scott &amp; White Quality Alliance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49961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$107.6M MSSP Savings (2023)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7190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physicians · 50 hospitals · 750K lives · #1 in Texas for MSSP savings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9377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48840"/>
            <a:ext cx="64008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21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Southwestern Health Resources (SWHR)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45973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Nationally, 3 Consecutive Years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26791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 providers · 29 hospitals · ~$304M cumulative Medicare savings · 100% quality score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9377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64008" cy="850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82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HealthTrackRx (Denton, TX)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41985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$45.5M Louisville Investment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6393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Nation's premier independent PCR lab · 10,000+ clinician network · CDC measles/H5N1 partner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49377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69080"/>
            <a:ext cx="64008" cy="8503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142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MSSP Performance (2024)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3799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$803M Paid to 52 ACOs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45994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Texas ACOs earned payouts vs. 75% nationally — Texas leads the nation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77840" y="1188720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77840" y="12801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77840" y="16824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DFWHC Member Hospitals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0" y="1188720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0" y="12801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265K+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0" y="16824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Healthcare Jobs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2157984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77840" y="22494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77840" y="26517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Economic Impact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0" y="2157984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0" y="22494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189K+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15200" y="26517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Practitioners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77840" y="3127248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77840" y="321868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577840" y="36210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DFW Labs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15200" y="3127248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15200" y="321868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315200" y="36210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 Orgs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77840" y="4096512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577840" y="41879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577840" y="45902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MSSP ACOs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315200" y="4096512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315200" y="41879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$3–5B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315200" y="45902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Lab Market Size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MOAT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AI Laws Are a Competitive Shield, Not a Burden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1188 + TRAIGA create structural barriers for late entrants — Ardia builds compliance as core product capability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384048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4206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801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SB 1188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15910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Effective: September 1,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" y="1865376"/>
            <a:ext cx="384048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9202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" y="230428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212848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review of all AI-generated clinical content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1208" y="2651760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560320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disclosure when AI is used for diagnostic purposes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" y="299923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90779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data must be stored in United States (Jan 1, 2026)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1208" y="334670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255264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controls for all PHI systems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1208" y="36941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602736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Penalties: $5K–$250K per violation + license suspension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" y="3968496"/>
            <a:ext cx="384048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4005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Ardia's Response: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2062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Audit trails for every AI output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US-only AWS infrastructure (us-east-1)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Patient disclosure integrated into workflow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RBAC built into platform architecture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1170432"/>
            <a:ext cx="4206240" cy="384048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170432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12801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TRAIGA (HB 149)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65192" y="15910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Effective: January 1, 2026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65192" y="1865376"/>
            <a:ext cx="384048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19202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01768" y="23042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4648" y="2212848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Healthcare-specific AI disclosure to patients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01768" y="26517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4648" y="2560320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liability (startup-friendly vs. Colorado)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01768" y="29992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290779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harbor: NIST AI RMF substantial compliance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01768" y="3346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4648" y="3255264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regulatory sandbox — no standard state license req.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01768" y="36941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84648" y="3602736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Preempts all local AI ordinances → uniform TX compliance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65192" y="3968496"/>
            <a:ext cx="384048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4005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Ardia's Response: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65192" y="42062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NIST AI RMF aligned governance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Sandbox registration in progress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Behavioral manipulation prohibited — Ardia compliant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Single state framework reduces compliance cost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Momentum &amp; 12-Month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— Q1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" y="1325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designed — Neuro-Symbolic Sandwich Architecture finalized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37944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379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" y="18379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 formed — Delaware LLC, DFW headquarters (Argyle, TX)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500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" y="23500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complete — 55+ DFW target labs, ACOs, BH orgs mapped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62072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62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" y="28620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regulatory compliance plan — SB 1188 + TRAIGA framework defined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374136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741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" y="337413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brand launched — Multi-page investor site with PLG sandbox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862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" y="38862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 LOIs in discussion — HealthTrackRx, Filos Health Lab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9601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12 Months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3258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325880"/>
            <a:ext cx="10058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3258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33872" y="14173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ToxIQ launch · Pilot with 2 DFW labs · First claims processed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258568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258568"/>
            <a:ext cx="1005840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25856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33872" y="235000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MolecuIQ beta · 5 paying labs · ADLM Annual Meeting presence · $200K ARR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19125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191256"/>
            <a:ext cx="100584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19125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33872" y="328269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SWHR/BSWQA ACO pilot · BehaviorIQ alpha · Series A preparation · $600K ARR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412394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4123944"/>
            <a:ext cx="10058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1239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33872" y="421538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Texas launch · 25 paying labs · NAACOS conference · Series A close · $1.5M ARR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 pilots → Q2 2026  ·  First Revenue → Q3 2026  ·  $600K ARR → Q4 2026  ·  Seed Break-Even → Q1 2027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Financial Projections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case: 15% success fee on recovered revenue + SaaS expansion. Net Rev ≠ Gross Billed.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15568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1115568"/>
            <a:ext cx="12801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111556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739128" y="1115568"/>
            <a:ext cx="5669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4848" y="111556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24344" y="1115568"/>
            <a:ext cx="5669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70064" y="111556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909560" y="1115568"/>
            <a:ext cx="5669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111556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494776" y="1115568"/>
            <a:ext cx="5669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0496" y="111556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079992" y="1115568"/>
            <a:ext cx="5669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25712" y="111556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40680" y="1645920"/>
            <a:ext cx="1280160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1645920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Labs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739128" y="1645920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84848" y="16459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324344" y="1645920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70064" y="16459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909560" y="1645920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6459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494776" y="1645920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40496" y="16459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079992" y="1645920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25712" y="16459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440680" y="2176272"/>
            <a:ext cx="12801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0" y="217627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($M)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739128" y="2176272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84848" y="21762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324344" y="2176272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70064" y="21762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909560" y="2176272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55280" y="21762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$9.8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494776" y="2176272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40496" y="21762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$24.5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9079992" y="2176272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125712" y="21762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$51.0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440680" y="2706624"/>
            <a:ext cx="1280160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86400" y="2706624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739128" y="2706624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84848" y="27066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324344" y="2706624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70064" y="27066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909560" y="2706624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955280" y="27066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8494776" y="2706624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40496" y="27066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9079992" y="2706624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125712" y="27066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440680" y="3236976"/>
            <a:ext cx="12801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86400" y="3236976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739128" y="3236976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784848" y="32369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(85%)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7324344" y="3236976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370064" y="32369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(22%)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7909560" y="3236976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955280" y="32369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8494776" y="3236976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540496" y="32369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079992" y="3236976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125712" y="32369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5440680" y="3767328"/>
            <a:ext cx="1280160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486400" y="37673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6739128" y="3767328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784848" y="37673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7324344" y="3767328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370064" y="37673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7909560" y="3767328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955280" y="37673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8494776" y="3767328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540496" y="37673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9079992" y="3767328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9125712" y="37673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5532120" y="43159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5532120" y="45537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15% success fee on avg. $240K recovered/lab/yr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35% annual lab count growth from referrals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SaaS upsell at 60% of lab base by Year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ACO module adds $180K–$420K/deal/yr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Domain-Expert Founding Team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operators who lived the lab billing crisis — not engineers who discovered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023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99032"/>
            <a:ext cx="822960" cy="822960"/>
          </a:xfrm>
          <a:prstGeom prst="ellipse">
            <a:avLst/>
          </a:prstGeom>
          <a:solidFill>
            <a:srgbClr val="0D9488">
              <a:alpha val="8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990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81328" y="13350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81328" y="16276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&amp; Lab Operations Expert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404872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59152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DFW-based healthcare operator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2532888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487168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expertise in lab billing &amp; RCM operations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" y="2660904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615184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Ardia's neuro-symbolic platform strategy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2788920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74320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regulatory compliance specialist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170432"/>
            <a:ext cx="4023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399032"/>
            <a:ext cx="822960" cy="822960"/>
          </a:xfrm>
          <a:prstGeom prst="ellipse">
            <a:avLst/>
          </a:prstGeom>
          <a:solidFill>
            <a:srgbClr val="D97706">
              <a:alpha val="85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990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779008" y="13350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(Hiring)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79008" y="16276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Engineering Lead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240487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359152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RAG architecture specialist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64608" y="2532888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487168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pipeline engineering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64608" y="266090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615184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infrastructure design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64608" y="2788920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274320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2x exited health tech engineer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090672"/>
            <a:ext cx="4023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319272"/>
            <a:ext cx="822960" cy="822960"/>
          </a:xfrm>
          <a:prstGeom prst="ellipse">
            <a:avLst/>
          </a:prstGeom>
          <a:solidFill>
            <a:srgbClr val="6366F1">
              <a:alpha val="85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19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481328" y="32552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 (Hiring)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81328" y="35478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SaaS Sales Leader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20624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4325112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279392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lab &amp; RCM enterprise sales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4453128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4407408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relationships: DFW lab directors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" y="4581144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4535424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ADLM, SOFT, NAACOS network access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6928" y="4709160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466344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$3M+ quota carry experience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3090672"/>
            <a:ext cx="4023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46320" y="3319272"/>
            <a:ext cx="822960" cy="822960"/>
          </a:xfrm>
          <a:prstGeom prst="ellipse">
            <a:avLst/>
          </a:prstGeom>
          <a:solidFill>
            <a:srgbClr val="EC4899">
              <a:alpha val="85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319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5779008" y="32552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Advisor (Seeking)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779008" y="35478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Director / MD/PhD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420624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64608" y="4325112"/>
            <a:ext cx="82296" cy="822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4279392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CLIA lab director credential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64608" y="4453128"/>
            <a:ext cx="82296" cy="822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10912" y="4407408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diagnostics expertise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64608" y="4581144"/>
            <a:ext cx="82296" cy="822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10912" y="4535424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 physician leadership background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64608" y="4709160"/>
            <a:ext cx="82296" cy="822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10912" y="466344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UTSW or BSWQA affiliation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73659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SOUGHT: Lab Director (MD/PhD) · Health AI VC Partner · NAACOS / ADLM Network Lead · TX Healthcare Attorney · DFW Accelerator Mentor (Health Wildcatters / Techstars Physical Health FW)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Sandwich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LLM reasoning + symbolic rule engine + ML outcome model — explainable, auditable, defensible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27248" y="1261872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704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835/837 · FHIR R4 · HL7 v2 · Direct EHR API · AES-256 Transit Encryption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8412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LAYER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27248" y="1737360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645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· GPT-4o · Clinical context window · Chain-of-thought denial analysis · Evidence identification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841248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21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RULES ENGINE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27248" y="2212848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1214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 LCD/NCD rules · MolDx requirements · Payer-specific coding trees · Prior auth logic · TRAIGA/SB 1188 compliance gates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96896"/>
            <a:ext cx="8412480" cy="457200"/>
          </a:xfrm>
          <a:prstGeom prst="rect">
            <a:avLst/>
          </a:prstGeom>
          <a:solidFill>
            <a:srgbClr val="14293D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968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EVIDENCE 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27248" y="2688336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59689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medical databases · CMS coverage policies · NCCN guidelines · PubMed clinical evidence · ALJ/MAC decision history · 340ms retrieval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072384"/>
            <a:ext cx="8412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723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GATE  ★ SB 1188 REQUIRED 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27248" y="3163824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07238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review before any claim action · Explainable AI decisions · Full audit trail · Patient disclosure trigger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547872"/>
            <a:ext cx="8412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478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OUTCOME PREDICTOR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27248" y="3639312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5478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scoring · Payer behavior models · Continuous learning from outcomes · Denial pattern detection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LEARNING LAYER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27248" y="4114800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0233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brief generation · Multi-channel submission · ERA auto-posting · Model retraining on adjudications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8308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8308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 Compatible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Compliant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5236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Data Only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POTENTIAL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Market Is Validated and Active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$26B+ in RCM M&amp;A and IPO activity (2023–2025). Strategic acquirers actively consolidating AI-enabled RCM platforms.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RCM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15910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Buyout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129844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3167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29844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TowerBrook + CD&amp;R · Nov 2024 · 29% premium · $1T+ provider rev managed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47672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0208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Waystar (WAY)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" y="23317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— Nasdaq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2039112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057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20391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2024 · $967M raised · 42% EBITDA margin · 30,000+ healthcare clients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6883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88336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Technologies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" y="30723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Roll-Up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779776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7980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$800M+ Rev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277977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Mountain Capital · Access Healthcare + SmarterDx + Thoughtful.ai · 2025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429000"/>
            <a:ext cx="64008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502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" y="38130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VC-Backed Growth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51760" y="3520440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538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$205M Raised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63440" y="35204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a16z lead · $120M Series C (2024) · 650+ hospitals · 6,500 outpatient sites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16966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169664"/>
            <a:ext cx="640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" y="42428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AI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" y="45537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4261104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4279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$902M Raised → Shutdown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63440" y="426110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2023 · Overpromised AI, underdelivered results · Key lesson: demonstrate real clinical value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AI RCM Valuation Multiples: 6–8× Revenue (AI-native premium) · 10–20× EBITDA at scale · 83% round size premium vs. non-AI health tech (2025)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 Seed Round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· SAFE Note · $18M Post-Money Valuation Cap · DFW/Texas-Focused VCs and Strategic Angels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28016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261872"/>
            <a:ext cx="4297680" cy="658368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126187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81728" y="131673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1316736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· $1.40M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81728" y="159105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 (x2), platform build, cloud infrastructure, FHIR/HL7 integrations, security audit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0" y="2011680"/>
            <a:ext cx="4297680" cy="658368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01168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1728" y="206654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Go-to-Market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49440" y="206654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· $0.88M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81728" y="234086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 hire, ADLM/SOFT/NAACOS conference presence, PLG tooling, CRM, pilot conversion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0" y="2761488"/>
            <a:ext cx="4297680" cy="658368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0" y="2761488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8" y="28163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Compliance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49440" y="2816352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· $0.63M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81728" y="309067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counsel, HIPAA attestation, TX SB 1188 compliance, NIST AI RMF program, CLIA integration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0" y="3511296"/>
            <a:ext cx="4297680" cy="658368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3511296"/>
            <a:ext cx="54864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81728" y="35661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&amp; Legal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49440" y="3566160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· $0.35M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81728" y="38404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Accounting, CFO fractional, IP/patent strategy, Delaware corp maintenance, D&amp;O insurance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0" y="4261104"/>
            <a:ext cx="4297680" cy="658368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0" y="4261104"/>
            <a:ext cx="54864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1728" y="4315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949440" y="4315968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· $0.25M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681728" y="45902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runway buffer and opportunistic advisor/angel engagement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This Round Unlocks: MVP Launch → 2 Paid Pilots → $600K ARR → Series A at $12–18M ARR → $60–100M+ Valuation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740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6304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5740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6304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5176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5740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5176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4612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502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</a:t>
            </a:r>
            <a:endParaRPr lang="en-US" sz="4200" dirty="0"/>
          </a:p>
        </p:txBody>
      </p:sp>
      <p:sp>
        <p:nvSpPr>
          <p:cNvPr id="46" name="Text 44"/>
          <p:cNvSpPr/>
          <p:nvPr/>
        </p:nvSpPr>
        <p:spPr>
          <a:xfrm>
            <a:off x="274320" y="11521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1591056"/>
            <a:ext cx="3200400" cy="0"/>
          </a:xfrm>
          <a:prstGeom prst="line">
            <a:avLst/>
          </a:prstGeom>
          <a:noFill/>
          <a:ln w="19050">
            <a:solidFill>
              <a:srgbClr val="CCFBF1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18288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for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revenue recovery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era when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use AI to deny.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65760" y="3639312"/>
            <a:ext cx="338328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63931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Dallas–Fort Worth, Texas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4005072"/>
            <a:ext cx="338328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00507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ardiahealthlabs.com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370832"/>
            <a:ext cx="338328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37083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$3.5M Seed (SAFE)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736592"/>
            <a:ext cx="338328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73659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founders@ardiahealthlabs.com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389120" y="502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4389120" y="1005840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98848" y="106070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5650992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lab revenue lost to unpaid claims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389120" y="1581912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98848" y="16367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5650992" y="16550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 denial rate — industry worst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389120" y="2157984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98848" y="221284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50992" y="22311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claims never appealed — recoverable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389120" y="2734056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98848" y="27889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$70B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5650992" y="28072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RCM market size by 2030 (24.2% CAGR)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389120" y="3310128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98848" y="33649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$8.9B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5650992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RCM acquired — validates market scale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89120" y="3886200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98848" y="394106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5650992" y="39593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competitors targeting independent labs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389120" y="4462272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98848" y="451713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5650992" y="45354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 to capture this white space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389120" y="4663440"/>
            <a:ext cx="448056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89120" y="4663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— BE PART OF THE CATEGORY THAT PAYS LABS WHAT THEY'VE EARNED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Ardia Health — Investor Pitch Deck</dc:title>
  <dc:subject>PptxGenJS Presentation</dc:subject>
  <dc:creator>Ardia Health</dc:creator>
  <cp:lastModifiedBy>Ardia Health</cp:lastModifiedBy>
  <cp:revision>1</cp:revision>
  <dcterms:created xsi:type="dcterms:W3CDTF">2026-03-13T06:43:52Z</dcterms:created>
  <dcterms:modified xsi:type="dcterms:W3CDTF">2026-03-13T06:43:52Z</dcterms:modified>
</cp:coreProperties>
</file>